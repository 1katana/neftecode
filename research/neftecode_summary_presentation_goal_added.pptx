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16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6583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C5F0"/>
                </a:solidFill>
              </a:rPr>
              <a:t>Нефтекод 2.0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</a:rPr>
              <a:t>ЛИМС, ПАК и модели качества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21792" y="20574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4D9"/>
                </a:solidFill>
              </a:rPr>
              <a:t>Как превращаем разрозненные замеры и телеметрию в безопасную рекомендацию оператору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88720" y="4892040"/>
            <a:ext cx="1783080" cy="0"/>
          </a:xfrm>
          <a:prstGeom prst="line">
            <a:avLst/>
          </a:prstGeom>
          <a:noFill/>
          <a:ln w="17780">
            <a:solidFill>
              <a:srgbClr val="36C5F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0" y="4892040"/>
            <a:ext cx="1783080" cy="0"/>
          </a:xfrm>
          <a:prstGeom prst="line">
            <a:avLst/>
          </a:prstGeom>
          <a:noFill/>
          <a:ln w="17780">
            <a:solidFill>
              <a:srgbClr val="3DDC9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26480" y="4892040"/>
            <a:ext cx="1783080" cy="0"/>
          </a:xfrm>
          <a:prstGeom prst="line">
            <a:avLst/>
          </a:prstGeom>
          <a:noFill/>
          <a:ln w="17780">
            <a:solidFill>
              <a:srgbClr val="FFB70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595360" y="4892040"/>
            <a:ext cx="1783080" cy="0"/>
          </a:xfrm>
          <a:prstGeom prst="line">
            <a:avLst/>
          </a:prstGeom>
          <a:noFill/>
          <a:ln w="17780">
            <a:solidFill>
              <a:srgbClr val="FF5C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44348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6233E"/>
          </a:solidFill>
          <a:ln w="16510">
            <a:solidFill>
              <a:srgbClr val="36C5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4517136"/>
            <a:ext cx="131673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ДАННЫЕ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44348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6233E"/>
          </a:solidFill>
          <a:ln w="16510">
            <a:solidFill>
              <a:srgbClr val="3DDC9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44952" y="4517136"/>
            <a:ext cx="131673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ПРОГНОЗ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44348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6233E"/>
          </a:solidFill>
          <a:ln w="16510">
            <a:solidFill>
              <a:srgbClr val="FFB70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513832" y="4517136"/>
            <a:ext cx="131673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WHAT‑IF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09560" y="44348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6233E"/>
          </a:solidFill>
          <a:ln w="16510">
            <a:solidFill>
              <a:srgbClr val="FF5C7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982712" y="4517136"/>
            <a:ext cx="131673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SAFETY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0" y="44348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6233E"/>
          </a:solidFill>
          <a:ln w="1651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131552" y="4517136"/>
            <a:ext cx="14081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СОВЕТ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</a:rPr>
              <a:t>Сводка по EDA и архитектуре МАС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источников: что с чем связано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ЛИМС — не потоковая телеметрия. Это отдельные лабораторные факты качества.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0" y="3291840"/>
            <a:ext cx="2377440" cy="0"/>
          </a:xfrm>
          <a:prstGeom prst="line">
            <a:avLst/>
          </a:prstGeom>
          <a:noFill/>
          <a:ln w="17780">
            <a:solidFill>
              <a:srgbClr val="36C5F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577840" y="3291840"/>
            <a:ext cx="2286000" cy="0"/>
          </a:xfrm>
          <a:prstGeom prst="line">
            <a:avLst/>
          </a:prstGeom>
          <a:noFill/>
          <a:ln w="17780">
            <a:solidFill>
              <a:srgbClr val="3DDC9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869680" y="3291840"/>
            <a:ext cx="1645920" cy="0"/>
          </a:xfrm>
          <a:prstGeom prst="line">
            <a:avLst/>
          </a:prstGeom>
          <a:noFill/>
          <a:ln w="17780">
            <a:solidFill>
              <a:srgbClr val="FFB70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1488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148840"/>
            <a:ext cx="73152" cy="201168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" y="2295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Телеметрия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587752"/>
            <a:ext cx="196596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AVT + 24‑2000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10‑минутные ряды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температуры, давления, расходы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337560" y="21488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37560" y="2148840"/>
            <a:ext cx="73152" cy="201168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38728" y="2295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ПАК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8728" y="2587752"/>
            <a:ext cx="196596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оперативные анализаторы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сера, D15 и др.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может ошибаться / выпадать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26480" y="214884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2148840"/>
            <a:ext cx="73152" cy="2011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27648" y="2295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ЛИМС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587752"/>
            <a:ext cx="201168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редкие лабораторные пробы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ground truth качества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рандомные по времени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961120" y="21488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961120" y="2148840"/>
            <a:ext cx="73152" cy="2011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62288" y="22951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Модель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62288" y="2587752"/>
            <a:ext cx="23317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история процесса до пробы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→ прогноз качества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→ риск нарушения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2960" y="4846320"/>
            <a:ext cx="2926080" cy="347472"/>
          </a:xfrm>
          <a:prstGeom prst="roundRect">
            <a:avLst>
              <a:gd name="adj" fmla="val 18421"/>
            </a:avLst>
          </a:prstGeom>
          <a:solidFill>
            <a:srgbClr val="FF5C7A">
              <a:alpha val="90000"/>
            </a:srgbClr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2688" y="4919472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НЕ джойним строка-к-строке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886200" y="484632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36C5F0">
              <a:alpha val="90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995928" y="4919472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Синхронизация только по времени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040880" y="4846320"/>
            <a:ext cx="3200400" cy="347472"/>
          </a:xfrm>
          <a:prstGeom prst="roundRect">
            <a:avLst>
              <a:gd name="adj" fmla="val 18421"/>
            </a:avLst>
          </a:prstGeom>
          <a:solidFill>
            <a:srgbClr val="3DDC97">
              <a:alpha val="90000"/>
            </a:srgbClr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50608" y="491947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Храним age / freshness анализа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005840" y="5532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Важно: одинаковое время ЛИМС в разных точках ещё не доказывает, что это одна материальная порция. Нужны точка отбора, время отбора и желательно ID пробы.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видно по ЛИМС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Сера — реальная задача риска, а не искусственный target.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5087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2700">
            <a:solidFill>
              <a:srgbClr val="27395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55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C5F0"/>
                </a:solidFill>
              </a:rPr>
              <a:t>1462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06654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8C4D9"/>
                </a:solidFill>
              </a:rPr>
              <a:t>лабораторных замера серы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395728" y="15087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2700">
            <a:solidFill>
              <a:srgbClr val="27395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32888" y="1655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C97"/>
                </a:solidFill>
              </a:rPr>
              <a:t>8.6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551176" y="206654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8C4D9"/>
                </a:solidFill>
              </a:rPr>
              <a:t>медиана, мг/кг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197096" y="15087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2700">
            <a:solidFill>
              <a:srgbClr val="27395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34256" y="1655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B703"/>
                </a:solidFill>
              </a:rPr>
              <a:t>15.7%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352544" y="206654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8C4D9"/>
                </a:solidFill>
              </a:rPr>
              <a:t>выше 10 мг/кг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998464" y="15087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2700">
            <a:solidFill>
              <a:srgbClr val="27395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35624" y="1655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5C7A"/>
                </a:solidFill>
              </a:rPr>
              <a:t>2120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153912" y="206654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8C4D9"/>
                </a:solidFill>
              </a:rPr>
              <a:t>экстремум: проверить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749808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0160">
            <a:solidFill>
              <a:srgbClr val="D7DEEA"/>
            </a:solidFill>
            <a:prstDash val="solid"/>
          </a:ln>
        </p:spPr>
        <p:txBody>
          <a:bodyPr/>
          <a:p/>
        </p:txBody>
      </p:sp>
      <p:pic>
        <p:nvPicPr>
          <p:cNvPr id="19" name="Image 0" descr="/mnt/data/lims_deep_analysis_user/06_sulfur_monthly_excee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952457"/>
            <a:ext cx="7351776" cy="282760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549640" y="2834640"/>
            <a:ext cx="3017520" cy="3063240"/>
          </a:xfrm>
          <a:prstGeom prst="roundRect">
            <a:avLst>
              <a:gd name="adj" fmla="val 2424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549640" y="2834640"/>
            <a:ext cx="73152" cy="306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750808" y="29809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Вывод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750808" y="3273552"/>
            <a:ext cx="269748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Нужна не только регрессия серы, но и классификация риска: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P(Sulfur &gt; 10 мг/кг)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Превышения по месяцам неравномерные → процесс нестационарный.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Выбросы: что делаем с грязью в данных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Редкое значение ≠ ошибка. Плохой режим может быть самым ценным примером.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0" y="2834640"/>
            <a:ext cx="1280160" cy="0"/>
          </a:xfrm>
          <a:prstGeom prst="line">
            <a:avLst/>
          </a:prstGeom>
          <a:noFill/>
          <a:ln w="17780">
            <a:solidFill>
              <a:srgbClr val="36C5F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0" y="2834640"/>
            <a:ext cx="1280160" cy="0"/>
          </a:xfrm>
          <a:prstGeom prst="line">
            <a:avLst/>
          </a:prstGeom>
          <a:noFill/>
          <a:ln w="17780">
            <a:solidFill>
              <a:srgbClr val="FFB70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0" y="2834640"/>
            <a:ext cx="1280160" cy="0"/>
          </a:xfrm>
          <a:prstGeom prst="line">
            <a:avLst/>
          </a:prstGeom>
          <a:noFill/>
          <a:ln w="17780">
            <a:solidFill>
              <a:srgbClr val="FF5C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2148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2148840"/>
            <a:ext cx="73152" cy="137160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5528" y="22951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Нормальные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" y="2587752"/>
            <a:ext cx="21488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используем как есть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для обучения и валидации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657600" y="2148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0" y="2148840"/>
            <a:ext cx="73152" cy="1371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58768" y="22951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Подозрительные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2587752"/>
            <a:ext cx="21488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оставляем, но ставим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is_anomaly = 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confidence ниже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720840" y="2148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720840" y="2148840"/>
            <a:ext cx="73152" cy="137160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22008" y="22951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Некорректные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22008" y="2587752"/>
            <a:ext cx="21488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не используем как target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например T95 = 0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646920" y="21488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46920" y="2148840"/>
            <a:ext cx="73152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848088" y="22951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Логи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48088" y="2587752"/>
            <a:ext cx="16002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причина флага: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range / physics / stale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85800" y="4297680"/>
            <a:ext cx="4892040" cy="1097280"/>
          </a:xfrm>
          <a:prstGeom prst="roundRect">
            <a:avLst>
              <a:gd name="adj" fmla="val 5833"/>
            </a:avLst>
          </a:prstGeom>
          <a:solidFill>
            <a:srgbClr val="16233E"/>
          </a:solidFill>
          <a:ln w="12700">
            <a:solidFill>
              <a:srgbClr val="36C5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C5F0"/>
                </a:solidFill>
              </a:rPr>
              <a:t>Правило физики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71800" y="4416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T50 ≤ T90 ≤ T95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14400" y="4892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9"/>
                </a:solidFill>
              </a:rPr>
              <a:t>Если порядок ломается — анализ подозрительный.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297680"/>
            <a:ext cx="5257800" cy="1097280"/>
          </a:xfrm>
          <a:prstGeom prst="roundRect">
            <a:avLst>
              <a:gd name="adj" fmla="val 5833"/>
            </a:avLst>
          </a:prstGeom>
          <a:solidFill>
            <a:srgbClr val="16233E"/>
          </a:solidFill>
          <a:ln w="12700">
            <a:solidFill>
              <a:srgbClr val="FFB70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17920" y="4480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</a:rPr>
              <a:t>Не удаляем автоматически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4873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9"/>
                </a:solidFill>
              </a:rPr>
              <a:t>Sulfur = 14 мг/кг — это может быть реальный риск, а не “мусор”.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Корреляции: что уже можно использовать как гипотезы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 по D15 выглядит полезно, ПАК по сере — слабее. Все лаги пока разведочные.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417320"/>
            <a:ext cx="429768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7DEEA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mnt/data/lims_deep_analysis_user/08_pak_vs_lims_sulf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41279"/>
            <a:ext cx="4151376" cy="35583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57800" y="1417320"/>
            <a:ext cx="429768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7DEEA"/>
            </a:solidFill>
            <a:prstDash val="solid"/>
          </a:ln>
        </p:spPr>
        <p:txBody>
          <a:bodyPr/>
          <a:p/>
        </p:txBody>
      </p:sp>
      <p:pic>
        <p:nvPicPr>
          <p:cNvPr id="9" name="Image 1" descr="/mnt/data/lims_deep_analysis_user/09_pak_vs_lims_d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1741279"/>
            <a:ext cx="4151376" cy="355832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921240" y="16002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2700">
            <a:solidFill>
              <a:srgbClr val="273956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0058400" y="17465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5C7A"/>
                </a:solidFill>
              </a:rPr>
              <a:t>r≈0.34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10076688" y="215798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8C4D9"/>
                </a:solidFill>
              </a:rPr>
              <a:t>ПАК↔ЛИМС по сере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9921240" y="2788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2700">
            <a:solidFill>
              <a:srgbClr val="273956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0058400" y="29352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C97"/>
                </a:solidFill>
              </a:rPr>
              <a:t>r≈0.89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10076688" y="334670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B8C4D9"/>
                </a:solidFill>
              </a:rPr>
              <a:t>ПАК↔ЛИМС по D15</a:t>
            </a:r>
            <a:endParaRPr lang="en-US" sz="930" dirty="0"/>
          </a:p>
        </p:txBody>
      </p:sp>
      <p:sp>
        <p:nvSpPr>
          <p:cNvPr id="16" name="Text 12"/>
          <p:cNvSpPr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Трактовка: D15 можно уверенно брать как оперативный сигнал; серу через ПАК лучше использовать осторожно и с понижением confidence.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правильно считать датасет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Обучающая строка = один лабораторный анализ, а не каждые 10 минут телеметрии.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920240" y="2880360"/>
            <a:ext cx="1965960" cy="0"/>
          </a:xfrm>
          <a:prstGeom prst="line">
            <a:avLst/>
          </a:prstGeom>
          <a:noFill/>
          <a:ln w="17780">
            <a:solidFill>
              <a:srgbClr val="36C5F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257800" y="2880360"/>
            <a:ext cx="1965960" cy="0"/>
          </a:xfrm>
          <a:prstGeom prst="line">
            <a:avLst/>
          </a:prstGeom>
          <a:noFill/>
          <a:ln w="17780">
            <a:solidFill>
              <a:srgbClr val="3DDC9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03920" y="2880360"/>
            <a:ext cx="1645920" cy="0"/>
          </a:xfrm>
          <a:prstGeom prst="line">
            <a:avLst/>
          </a:prstGeom>
          <a:noFill/>
          <a:ln w="17780">
            <a:solidFill>
              <a:srgbClr val="FFB70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23317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6233E"/>
          </a:solidFill>
          <a:ln w="16510">
            <a:solidFill>
              <a:srgbClr val="FFB70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" y="2414016"/>
            <a:ext cx="186537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ЛИМС-проба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Sulfur = 8.7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6233E"/>
          </a:solidFill>
          <a:ln w="16510">
            <a:solidFill>
              <a:srgbClr val="36C5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10712" y="2414016"/>
            <a:ext cx="218541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История ДО пробы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30м · 1ч · 2ч · 6ч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23317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6233E"/>
          </a:solidFill>
          <a:ln w="16510">
            <a:solidFill>
              <a:srgbClr val="3DDC9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11112" y="2414016"/>
            <a:ext cx="213969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Lag / rolling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mean · std · slope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46920" y="2331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233E"/>
          </a:solidFill>
          <a:ln w="1651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720072" y="2414016"/>
            <a:ext cx="177393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Target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для ML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4297680"/>
            <a:ext cx="73152" cy="123444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44439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Что входит в 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736592"/>
            <a:ext cx="30632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телеметрия АВТ + 24‑2000, ПАК, предыдущий ЛИМС, age/freshness, признаки сырья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389120" y="429768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89120" y="4297680"/>
            <a:ext cx="73152" cy="123444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90288" y="444398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Что входит в 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90288" y="4736592"/>
            <a:ext cx="27889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отдельный target: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Sulfur, T95, FlashPoint, D15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772400" y="42976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0" y="4297680"/>
            <a:ext cx="73152" cy="123444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973568" y="44439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Что запрещено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4736592"/>
            <a:ext cx="31546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не используем будущие значения и не делаем случайный train/test split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Модели: порядок разработки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объяснимый табличный baseline, потом — усложнение.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5087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08760"/>
            <a:ext cx="73152" cy="1097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16550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1. Контроль качества данных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947672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правила + Isolation Forest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флаги аномалий и confidence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34840" y="1508760"/>
            <a:ext cx="73152" cy="109728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36008" y="16550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2. Регрессия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1947672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CatBoost / LightGBM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Sulfur, T95, FlashPoint, D15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83880" y="1508760"/>
            <a:ext cx="73152" cy="109728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85048" y="16550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3. Классификация риска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85048" y="1947672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CatBoost Classifier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P(Sulfur &gt; 10 мг/кг)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77240" y="3063240"/>
            <a:ext cx="50749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0160">
            <a:solidFill>
              <a:srgbClr val="D7DEEA"/>
            </a:solidFill>
            <a:prstDash val="solid"/>
          </a:ln>
        </p:spPr>
        <p:txBody>
          <a:bodyPr/>
          <a:p/>
        </p:txBody>
      </p:sp>
      <p:pic>
        <p:nvPicPr>
          <p:cNvPr id="19" name="Image 0" descr="/mnt/data/lims_deep_analysis_user/10_lagcorr_sulfur_24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20" y="3136392"/>
            <a:ext cx="3642360" cy="218541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355080" y="3063240"/>
            <a:ext cx="50749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0160">
            <a:solidFill>
              <a:srgbClr val="D7DEEA"/>
            </a:solidFill>
            <a:prstDash val="solid"/>
          </a:ln>
        </p:spPr>
        <p:txBody>
          <a:bodyPr/>
          <a:p/>
        </p:txBody>
      </p:sp>
      <p:pic>
        <p:nvPicPr>
          <p:cNvPr id="21" name="Image 1" descr="/mnt/data/lims_deep_analysis_user/11_lagcorr_flashpoint_242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3136392"/>
            <a:ext cx="3642360" cy="21854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Трансформер временных рядов — только вторым этапом сравнения. Для ~1–1.5 тыс. ЛИМС-target бустинг практичнее и понятнее на защите.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чему придём: безопасный цифровой советчик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не “рулит заводом”, а сравнивает допустимые варианты и объясняет оператору.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45920" y="1920240"/>
            <a:ext cx="1234440" cy="0"/>
          </a:xfrm>
          <a:prstGeom prst="line">
            <a:avLst/>
          </a:prstGeom>
          <a:noFill/>
          <a:ln w="17780">
            <a:solidFill>
              <a:srgbClr val="36C5F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251960" y="1920240"/>
            <a:ext cx="1234440" cy="0"/>
          </a:xfrm>
          <a:prstGeom prst="line">
            <a:avLst/>
          </a:prstGeom>
          <a:noFill/>
          <a:ln w="17780">
            <a:solidFill>
              <a:srgbClr val="3DDC9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903720" y="1920240"/>
            <a:ext cx="1234440" cy="0"/>
          </a:xfrm>
          <a:prstGeom prst="line">
            <a:avLst/>
          </a:prstGeom>
          <a:noFill/>
          <a:ln w="17780">
            <a:solidFill>
              <a:srgbClr val="FFB70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464040" y="1920240"/>
            <a:ext cx="1005840" cy="0"/>
          </a:xfrm>
          <a:prstGeom prst="line">
            <a:avLst/>
          </a:prstGeom>
          <a:noFill/>
          <a:ln w="17780">
            <a:solidFill>
              <a:srgbClr val="FF5C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292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6510">
            <a:solidFill>
              <a:srgbClr val="FFB70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" y="1499616"/>
            <a:ext cx="14996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Quality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6510">
            <a:solidFill>
              <a:srgbClr val="3DDC9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16352" y="1499616"/>
            <a:ext cx="168249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Quality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Agent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4924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6510">
            <a:solidFill>
              <a:srgbClr val="36C5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22392" y="1499616"/>
            <a:ext cx="168249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Scenario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Generator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6510">
            <a:solidFill>
              <a:srgbClr val="FF5C7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74152" y="1499616"/>
            <a:ext cx="168249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Safety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Filter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87000" y="14173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6233E"/>
          </a:solidFill>
          <a:ln w="1651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360152" y="1499616"/>
            <a:ext cx="12710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Совет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971800"/>
            <a:ext cx="498348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0160">
            <a:solidFill>
              <a:srgbClr val="D7DEEA"/>
            </a:solidFill>
            <a:prstDash val="solid"/>
          </a:ln>
        </p:spPr>
        <p:txBody>
          <a:bodyPr/>
          <a:p/>
        </p:txBody>
      </p:sp>
      <p:pic>
        <p:nvPicPr>
          <p:cNvPr id="21" name="Image 0" descr="/mnt/data/lims_deep_analysis_user/13_monthly_t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276014"/>
            <a:ext cx="4837176" cy="186045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80760" y="297180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16233E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080760" y="2971800"/>
            <a:ext cx="73152" cy="2468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281928" y="311810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Финальный ответ оператору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81928" y="3410712"/>
            <a:ext cx="489204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Текущее состояние: Sulfur forecast = 9.7 мг/кг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Риск превышения: 41%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Рекомендация: квенч 8.0 → 8.8; ВСГ 15 → 16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Ожидаемо: Sulfur 9.7 → 8.8; риск 41% → 9%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4D9"/>
                </a:solidFill>
              </a:rPr>
              <a:t>Если данные плохие — система отказывается от рискованной рекомендации.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Итоговая последовательность работ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MVP, который можно показать на хакатоне.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2A3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36C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572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1435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Разобрать ЛИМС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4447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8C4D9"/>
                </a:solidFill>
              </a:rPr>
              <a:t>точка отбора, timestamp, ID пробы, target’ы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033272" y="2011680"/>
            <a:ext cx="0" cy="274320"/>
          </a:xfrm>
          <a:prstGeom prst="line">
            <a:avLst/>
          </a:prstGeom>
          <a:noFill/>
          <a:ln w="17780">
            <a:solidFill>
              <a:srgbClr val="2A37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6C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3225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21854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Очистить источники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194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8C4D9"/>
                </a:solidFill>
              </a:rPr>
              <a:t>флаги аномалий, физические правила, freshness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1033272" y="2761488"/>
            <a:ext cx="0" cy="274320"/>
          </a:xfrm>
          <a:prstGeom prst="line">
            <a:avLst/>
          </a:prstGeom>
          <a:noFill/>
          <a:ln w="17780">
            <a:solidFill>
              <a:srgbClr val="2A37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2962656"/>
            <a:ext cx="502920" cy="502920"/>
          </a:xfrm>
          <a:prstGeom prst="ellipse">
            <a:avLst/>
          </a:prstGeom>
          <a:solidFill>
            <a:srgbClr val="36C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30723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2935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Собрать датасет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9443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8C4D9"/>
                </a:solidFill>
              </a:rPr>
              <a:t>история процесса до каждой ЛИМС-пробы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1033272" y="3511296"/>
            <a:ext cx="0" cy="274320"/>
          </a:xfrm>
          <a:prstGeom prst="line">
            <a:avLst/>
          </a:prstGeom>
          <a:noFill/>
          <a:ln w="17780">
            <a:solidFill>
              <a:srgbClr val="2A37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3712464"/>
            <a:ext cx="502920" cy="502920"/>
          </a:xfrm>
          <a:prstGeom prst="ellipse">
            <a:avLst/>
          </a:prstGeom>
          <a:solidFill>
            <a:srgbClr val="36C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38221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3685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Обучить baseline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369417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8C4D9"/>
                </a:solidFill>
              </a:rPr>
              <a:t>CatBoost-регрессия + классификация риска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033272" y="4261104"/>
            <a:ext cx="0" cy="274320"/>
          </a:xfrm>
          <a:prstGeom prst="line">
            <a:avLst/>
          </a:prstGeom>
          <a:noFill/>
          <a:ln w="17780">
            <a:solidFill>
              <a:srgbClr val="2A37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4462272"/>
            <a:ext cx="502920" cy="502920"/>
          </a:xfrm>
          <a:prstGeom prst="ellipse">
            <a:avLst/>
          </a:prstGeom>
          <a:solidFill>
            <a:srgbClr val="36C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7240" y="45720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8760" y="4434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Добавить what‑if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44439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8C4D9"/>
                </a:solidFill>
              </a:rPr>
              <a:t>перебор только подтверждённых CONTROL-параметров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1033272" y="5010912"/>
            <a:ext cx="0" cy="274320"/>
          </a:xfrm>
          <a:prstGeom prst="line">
            <a:avLst/>
          </a:prstGeom>
          <a:noFill/>
          <a:ln w="17780">
            <a:solidFill>
              <a:srgbClr val="2A37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7240" y="53218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08760" y="5184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Собрать МАС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63440" y="5193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8C4D9"/>
                </a:solidFill>
              </a:rPr>
              <a:t>агенты → ограничения → объяснимая рекомендация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868680" y="60807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703"/>
                </a:solidFill>
              </a:rPr>
              <a:t>Главная идея защиты: ЛИМС = лабораторная истина, ПАК = оперативный сигнал, телеметрия = история режима. МАС делает не прогноз ради прогноза, а безопасное объяснимое действие.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6519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6459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18C5F1"/>
                </a:solidFill>
                <a:latin typeface="Aptos"/>
              </a:rPr>
              <a:t>Нефтекод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66928"/>
            <a:ext cx="10058400" cy="4389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 Display"/>
              </a:rPr>
              <a:t>Цель и источники для отлова режимов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87552"/>
            <a:ext cx="1060704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0">
                <a:solidFill>
                  <a:srgbClr val="AAB6C6"/>
                </a:solidFill>
                <a:latin typeface="Aptos"/>
              </a:rPr>
              <a:t>Что именно строим и откуда понимаем состояние установки.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11521440" cy="9144"/>
          </a:xfrm>
          <a:prstGeom prst="rect">
            <a:avLst/>
          </a:prstGeom>
          <a:solidFill>
            <a:srgbClr val="26344A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0972800" cy="914400"/>
          </a:xfrm>
          <a:prstGeom prst="roundRect">
            <a:avLst/>
          </a:prstGeom>
          <a:solidFill>
            <a:srgbClr val="0D192B"/>
          </a:solidFill>
          <a:ln w="15240">
            <a:solidFill>
              <a:srgbClr val="FF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13716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1">
                <a:solidFill>
                  <a:srgbClr val="FFC600"/>
                </a:solidFill>
                <a:latin typeface="Aptos"/>
              </a:rP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64208"/>
            <a:ext cx="9235440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По текущему состоянию установки заранее поймать риск ухудшения качества дизеля и предложить безопасное изменение режима.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139696"/>
            <a:ext cx="886968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0">
                <a:solidFill>
                  <a:srgbClr val="AAB6C6"/>
                </a:solidFill>
                <a:latin typeface="Aptos"/>
              </a:rPr>
              <a:t>Не управляем “заводом напрямую”, а делаем объяснимый совет оператору.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3657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Режимы ловим по трём источникам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3246120" cy="1325880"/>
          </a:xfrm>
          <a:prstGeom prst="roundRect">
            <a:avLst/>
          </a:prstGeom>
          <a:solidFill>
            <a:srgbClr val="18253E"/>
          </a:solidFill>
          <a:ln w="15240">
            <a:solidFill>
              <a:srgbClr val="18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0292" cy="1325880"/>
          </a:xfrm>
          <a:prstGeom prst="rect">
            <a:avLst/>
          </a:prstGeom>
          <a:solidFill>
            <a:srgbClr val="18C5F1"/>
          </a:solidFill>
          <a:ln>
            <a:solidFill>
              <a:srgbClr val="18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410712"/>
            <a:ext cx="292607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18C5F1"/>
                </a:solidFill>
                <a:latin typeface="Aptos"/>
              </a:rPr>
              <a:t>1. Телеметрия АВТ + 24‑2000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794759"/>
            <a:ext cx="2926079" cy="6675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0">
                <a:solidFill>
                  <a:srgbClr val="AAB6C6"/>
                </a:solidFill>
                <a:latin typeface="Aptos"/>
              </a:rPr>
              <a:t>10‑минутные ряды: температуры, давления, расходы, уровни. Показывают, как сейчас работает установка.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246120"/>
            <a:ext cx="3246120" cy="1325880"/>
          </a:xfrm>
          <a:prstGeom prst="roundRect">
            <a:avLst/>
          </a:prstGeom>
          <a:solidFill>
            <a:srgbClr val="18253E"/>
          </a:solidFill>
          <a:ln w="15240">
            <a:solidFill>
              <a:srgbClr val="30D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3246120"/>
            <a:ext cx="50292" cy="1325880"/>
          </a:xfrm>
          <a:prstGeom prst="rect">
            <a:avLst/>
          </a:prstGeom>
          <a:solidFill>
            <a:srgbClr val="30D38A"/>
          </a:solidFill>
          <a:ln>
            <a:solidFill>
              <a:srgbClr val="30D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7" y="3410712"/>
            <a:ext cx="292607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30D38A"/>
                </a:solidFill>
                <a:latin typeface="Aptos"/>
              </a:rPr>
              <a:t>2. ПАК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7" y="3794759"/>
            <a:ext cx="2926079" cy="6675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0">
                <a:solidFill>
                  <a:srgbClr val="AAB6C6"/>
                </a:solidFill>
                <a:latin typeface="Aptos"/>
              </a:rPr>
              <a:t>Оперативные анализаторы качества: сера, D15 и др. Показывают, куда качество движется сейчас.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246120"/>
            <a:ext cx="3246120" cy="1325880"/>
          </a:xfrm>
          <a:prstGeom prst="roundRect">
            <a:avLst/>
          </a:prstGeom>
          <a:solidFill>
            <a:srgbClr val="18253E"/>
          </a:solidFill>
          <a:ln w="15240">
            <a:solidFill>
              <a:srgbClr val="FF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3246120"/>
            <a:ext cx="50292" cy="1325880"/>
          </a:xfrm>
          <a:prstGeom prst="rect">
            <a:avLst/>
          </a:prstGeom>
          <a:solidFill>
            <a:srgbClr val="FFC600"/>
          </a:solidFill>
          <a:ln>
            <a:solidFill>
              <a:srgbClr val="FF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8" y="3410712"/>
            <a:ext cx="292607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FFC600"/>
                </a:solidFill>
                <a:latin typeface="Aptos"/>
              </a:rPr>
              <a:t>3. ЛИМС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794759"/>
            <a:ext cx="2926079" cy="6675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0">
                <a:solidFill>
                  <a:srgbClr val="AAB6C6"/>
                </a:solidFill>
                <a:latin typeface="Aptos"/>
              </a:rPr>
              <a:t>Редкие лабораторные пробы. Это контрольный факт качества для обучения и проверки моделей.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03120" y="4892040"/>
            <a:ext cx="1737360" cy="0"/>
          </a:xfrm>
          <a:prstGeom prst="line">
            <a:avLst/>
          </a:prstGeom>
          <a:ln w="22860">
            <a:solidFill>
              <a:srgbClr val="18C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892040"/>
            <a:ext cx="1737360" cy="0"/>
          </a:xfrm>
          <a:prstGeom prst="line">
            <a:avLst/>
          </a:prstGeom>
          <a:ln w="22860">
            <a:solidFill>
              <a:srgbClr val="30D3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06840" y="4892040"/>
            <a:ext cx="1325880" cy="0"/>
          </a:xfrm>
          <a:prstGeom prst="line">
            <a:avLst/>
          </a:prstGeom>
          <a:ln w="22860">
            <a:solidFill>
              <a:srgbClr val="FFC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4663440"/>
            <a:ext cx="2148840" cy="685800"/>
          </a:xfrm>
          <a:prstGeom prst="roundRect">
            <a:avLst/>
          </a:prstGeom>
          <a:solidFill>
            <a:srgbClr val="0C1A2E"/>
          </a:solidFill>
          <a:ln w="13970">
            <a:solidFill>
              <a:srgbClr val="18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754880"/>
            <a:ext cx="8686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>
                <a:solidFill>
                  <a:srgbClr val="18C5F1"/>
                </a:solidFill>
                <a:latin typeface="Aptos"/>
              </a:rPr>
              <a:t>Телеметрия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956048"/>
            <a:ext cx="182880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00" b="0">
                <a:solidFill>
                  <a:srgbClr val="AAB6C6"/>
                </a:solidFill>
                <a:latin typeface="Aptos"/>
              </a:rPr>
              <a:t>распознаём
технологический режим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84448" y="4663440"/>
            <a:ext cx="2148840" cy="685800"/>
          </a:xfrm>
          <a:prstGeom prst="roundRect">
            <a:avLst/>
          </a:prstGeom>
          <a:solidFill>
            <a:srgbClr val="0C1A2E"/>
          </a:solidFill>
          <a:ln w="13970">
            <a:solidFill>
              <a:srgbClr val="30D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4754880"/>
            <a:ext cx="8686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>
                <a:solidFill>
                  <a:srgbClr val="30D38A"/>
                </a:solidFill>
                <a:latin typeface="Aptos"/>
              </a:rPr>
              <a:t>ПАК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956048"/>
            <a:ext cx="182880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00" b="0">
                <a:solidFill>
                  <a:srgbClr val="AAB6C6"/>
                </a:solidFill>
                <a:latin typeface="Aptos"/>
              </a:rPr>
              <a:t>видим оперативное
качество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663440"/>
            <a:ext cx="2148840" cy="685800"/>
          </a:xfrm>
          <a:prstGeom prst="roundRect">
            <a:avLst/>
          </a:prstGeom>
          <a:solidFill>
            <a:srgbClr val="0C1A2E"/>
          </a:solidFill>
          <a:ln w="13970">
            <a:solidFill>
              <a:srgbClr val="FF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754880"/>
            <a:ext cx="8686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>
                <a:solidFill>
                  <a:srgbClr val="FFC600"/>
                </a:solidFill>
                <a:latin typeface="Aptos"/>
              </a:rPr>
              <a:t>ЛИМС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56048"/>
            <a:ext cx="182880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00" b="0">
                <a:solidFill>
                  <a:srgbClr val="AAB6C6"/>
                </a:solidFill>
                <a:latin typeface="Aptos"/>
              </a:rPr>
              <a:t>подтверждаем
фактический результат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4663440"/>
            <a:ext cx="2148840" cy="685800"/>
          </a:xfrm>
          <a:prstGeom prst="roundRect">
            <a:avLst/>
          </a:prstGeom>
          <a:solidFill>
            <a:srgbClr val="0C1A2E"/>
          </a:solidFill>
          <a:ln w="13970">
            <a:solidFill>
              <a:srgbClr val="8F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4754880"/>
            <a:ext cx="8686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>
                <a:solidFill>
                  <a:srgbClr val="8F70FF"/>
                </a:solidFill>
                <a:latin typeface="Aptos"/>
              </a:rPr>
              <a:t>Модель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956048"/>
            <a:ext cx="182880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00" b="0">
                <a:solidFill>
                  <a:srgbClr val="AAB6C6"/>
                </a:solidFill>
                <a:latin typeface="Aptos"/>
              </a:rPr>
              <a:t>режим → лаг →
качество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5788152"/>
            <a:ext cx="8778240" cy="530352"/>
          </a:xfrm>
          <a:prstGeom prst="roundRect">
            <a:avLst/>
          </a:prstGeom>
          <a:solidFill>
            <a:srgbClr val="111D31"/>
          </a:solidFill>
          <a:ln w="12700">
            <a:solidFill>
              <a:srgbClr val="FF4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74519" y="5907024"/>
            <a:ext cx="8229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Ключ: модель учится связи “режим установки → через некоторое время → качество продукта”, а оптимизатор меняет только подтверждённые CONTROL‑параметры.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6446520"/>
            <a:ext cx="1828800" cy="137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700">
                <a:solidFill>
                  <a:srgbClr val="AAB6C6"/>
                </a:solidFill>
                <a:latin typeface="Aptos"/>
              </a:rPr>
              <a:t>Нефтекод 2.0 ·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Нефтекод 2.0: ЛИМС, ПАК, модели и безопасная рекомендация</dc:title>
  <dc:subject>Нефтекод 2.0 — анализ ЛИМС/ПАК и модель МАС</dc:subject>
  <dc:creator>OpenAI</dc:creator>
  <cp:lastModifiedBy>OpenAI</cp:lastModifiedBy>
  <cp:revision>1</cp:revision>
  <dcterms:created xsi:type="dcterms:W3CDTF">2026-09-11T15:09:21Z</dcterms:created>
  <dcterms:modified xsi:type="dcterms:W3CDTF">2026-09-11T15:09:21Z</dcterms:modified>
</cp:coreProperties>
</file>
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ac7a39c9464713" /><Relationship Type="http://schemas.openxmlformats.org/officeDocument/2006/relationships/extended-properties" Target="/docProps/app.xml" Id="Rec0d7fa5229942e0" /><Relationship Type="http://schemas.openxmlformats.org/officeDocument/2006/relationships/officeDocument" Target="/ppt/presentation.xml" Id="Rf28c31e997e24a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715b09ce0e4180"/>
  </p:sldMasterIdLst>
  <p:notesMasterIdLst>
    <p:notesMasterId xmlns:r="http://schemas.openxmlformats.org/officeDocument/2006/relationships" r:id="R3bbcb63ef4b5411a"/>
  </p:notesMasterIdLst>
  <p:sldIdLst>
    <p:sldId xmlns:r="http://schemas.openxmlformats.org/officeDocument/2006/relationships" id="256" r:id="R83db702b98d94c77"/>
    <p:sldId xmlns:r="http://schemas.openxmlformats.org/officeDocument/2006/relationships" id="257" r:id="Rfff08b27840a440b"/>
    <p:sldId xmlns:r="http://schemas.openxmlformats.org/officeDocument/2006/relationships" id="258" r:id="R0dfd05431dad41be"/>
    <p:sldId xmlns:r="http://schemas.openxmlformats.org/officeDocument/2006/relationships" id="259" r:id="R697beed7030e4fad"/>
    <p:sldId xmlns:r="http://schemas.openxmlformats.org/officeDocument/2006/relationships" id="260" r:id="Rbe188a0a479d4db0"/>
    <p:sldId xmlns:r="http://schemas.openxmlformats.org/officeDocument/2006/relationships" id="261" r:id="R77b4f48d14cd4ece"/>
    <p:sldId xmlns:r="http://schemas.openxmlformats.org/officeDocument/2006/relationships" id="262" r:id="R64e96beee62c4965"/>
    <p:sldId xmlns:r="http://schemas.openxmlformats.org/officeDocument/2006/relationships" id="263" r:id="Rafe38c621f564426"/>
    <p:sldId xmlns:r="http://schemas.openxmlformats.org/officeDocument/2006/relationships" id="264" r:id="R2172ac59ae5e4d44"/>
    <p:sldId xmlns:r="http://schemas.openxmlformats.org/officeDocument/2006/relationships" id="265" r:id="R14729c8675f74a5b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cac89205f64560" /><Relationship Type="http://schemas.openxmlformats.org/officeDocument/2006/relationships/slideMaster" Target="/ppt/slideMasters/slideMaster1.xml" Id="R5e715b09ce0e4180" /><Relationship Type="http://schemas.openxmlformats.org/officeDocument/2006/relationships/notesMaster" Target="/ppt/notesMasters/notesMaster1.xml" Id="R3bbcb63ef4b5411a" /><Relationship Type="http://schemas.openxmlformats.org/officeDocument/2006/relationships/presProps" Target="/ppt/presProps.xml" Id="Ref6b49253de4481b" /><Relationship Type="http://schemas.openxmlformats.org/officeDocument/2006/relationships/viewProps" Target="/ppt/viewProps.xml" Id="R2589656f18154268" /><Relationship Type="http://schemas.openxmlformats.org/officeDocument/2006/relationships/tableStyles" Target="/ppt/tableStyles.xml" Id="Rf929f9d47745470d" /><Relationship Type="http://schemas.openxmlformats.org/officeDocument/2006/relationships/slide" Target="/ppt/slides/slide1.xml" Id="R83db702b98d94c77" /><Relationship Type="http://schemas.openxmlformats.org/officeDocument/2006/relationships/slide" Target="/ppt/slides/slide2.xml" Id="Rfff08b27840a440b" /><Relationship Type="http://schemas.openxmlformats.org/officeDocument/2006/relationships/slide" Target="/ppt/slides/slide3.xml" Id="R0dfd05431dad41be" /><Relationship Type="http://schemas.openxmlformats.org/officeDocument/2006/relationships/slide" Target="/ppt/slides/slide4.xml" Id="R697beed7030e4fad" /><Relationship Type="http://schemas.openxmlformats.org/officeDocument/2006/relationships/slide" Target="/ppt/slides/slide5.xml" Id="Rbe188a0a479d4db0" /><Relationship Type="http://schemas.openxmlformats.org/officeDocument/2006/relationships/slide" Target="/ppt/slides/slide6.xml" Id="R77b4f48d14cd4ece" /><Relationship Type="http://schemas.openxmlformats.org/officeDocument/2006/relationships/slide" Target="/ppt/slides/slide7.xml" Id="R64e96beee62c4965" /><Relationship Type="http://schemas.openxmlformats.org/officeDocument/2006/relationships/slide" Target="/ppt/slides/slide8.xml" Id="Rafe38c621f564426" /><Relationship Type="http://schemas.openxmlformats.org/officeDocument/2006/relationships/slide" Target="/ppt/slides/slide9.xml" Id="R2172ac59ae5e4d44" /><Relationship Type="http://schemas.openxmlformats.org/officeDocument/2006/relationships/slide" Target="/ppt/slides/slide10.xml" Id="R14729c8675f74a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681a88dc4a4a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11256c776148c8" /><Relationship Type="http://schemas.openxmlformats.org/officeDocument/2006/relationships/notesMaster" Target="/ppt/notesMasters/notesMaster1.xml" Id="Rcb4c7a0bea4845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c1126800d14e12" /><Relationship Type="http://schemas.openxmlformats.org/officeDocument/2006/relationships/notesMaster" Target="/ppt/notesMasters/notesMaster1.xml" Id="Rdcb8ced3fdce47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b08ce142bc4000" /><Relationship Type="http://schemas.openxmlformats.org/officeDocument/2006/relationships/notesMaster" Target="/ppt/notesMasters/notesMaster1.xml" Id="R6a445259e4c948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ae4f1ab83749f6" /><Relationship Type="http://schemas.openxmlformats.org/officeDocument/2006/relationships/notesMaster" Target="/ppt/notesMasters/notesMaster1.xml" Id="R74e6bb255b954e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4b80e8238c4212" /><Relationship Type="http://schemas.openxmlformats.org/officeDocument/2006/relationships/notesMaster" Target="/ppt/notesMasters/notesMaster1.xml" Id="R7ab8ab71370b44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3231cb06e54e82" /><Relationship Type="http://schemas.openxmlformats.org/officeDocument/2006/relationships/notesMaster" Target="/ppt/notesMasters/notesMaster1.xml" Id="R1a188d9f58c64f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0e821d558a4319" /><Relationship Type="http://schemas.openxmlformats.org/officeDocument/2006/relationships/notesMaster" Target="/ppt/notesMasters/notesMaster1.xml" Id="R498ce166e4ec4d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159b3ba3b94ec3" /><Relationship Type="http://schemas.openxmlformats.org/officeDocument/2006/relationships/notesMaster" Target="/ppt/notesMasters/notesMaster1.xml" Id="R6526d77118354f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7fc2149a8a41c1" /><Relationship Type="http://schemas.openxmlformats.org/officeDocument/2006/relationships/notesMaster" Target="/ppt/notesMasters/notesMaster1.xml" Id="R22b3a388a1394e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44b26178034945" /><Relationship Type="http://schemas.openxmlformats.org/officeDocument/2006/relationships/notesMaster" Target="/ppt/notesMasters/notesMaster1.xml" Id="R91b3439fafc54d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4f65a66d04ea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57e19b65f4478d" /><Relationship Type="http://schemas.openxmlformats.org/officeDocument/2006/relationships/slideLayout" Target="/ppt/slideLayouts/slideLayout1.xml" Id="R9f68cc10d27a481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68cc10d27a481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260c97de5406c" /><Relationship Type="http://schemas.openxmlformats.org/officeDocument/2006/relationships/notesSlide" Target="/ppt/notesSlides/notesSlide1.xml" Id="Re3897440002242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a524635bc401c" /><Relationship Type="http://schemas.openxmlformats.org/officeDocument/2006/relationships/notesSlide" Target="/ppt/notesSlides/notesSlide2.xml" Id="R0c42d78defb44b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915c9eba545e6" /><Relationship Type="http://schemas.openxmlformats.org/officeDocument/2006/relationships/notesSlide" Target="/ppt/notesSlides/notesSlide3.xml" Id="R2136b0d96c0e48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2584c74054d9f" /><Relationship Type="http://schemas.openxmlformats.org/officeDocument/2006/relationships/image" Target="/ppt/media/image.png" Id="Rcf90ecab493b4551" /><Relationship Type="http://schemas.openxmlformats.org/officeDocument/2006/relationships/notesSlide" Target="/ppt/notesSlides/notesSlide4.xml" Id="R5dd42962e89944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6326dac4340d5" /><Relationship Type="http://schemas.openxmlformats.org/officeDocument/2006/relationships/notesSlide" Target="/ppt/notesSlides/notesSlide5.xml" Id="R6b69263b6f1143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87046c6b74eb8" /><Relationship Type="http://schemas.openxmlformats.org/officeDocument/2006/relationships/image" Target="/ppt/media/image2.png" Id="Reda8b762e3124d1a" /><Relationship Type="http://schemas.openxmlformats.org/officeDocument/2006/relationships/image" Target="/ppt/media/image3.png" Id="R5610782b86dd42a0" /><Relationship Type="http://schemas.openxmlformats.org/officeDocument/2006/relationships/notesSlide" Target="/ppt/notesSlides/notesSlide6.xml" Id="R95c4b247201f42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5a71411f04169" /><Relationship Type="http://schemas.openxmlformats.org/officeDocument/2006/relationships/notesSlide" Target="/ppt/notesSlides/notesSlide7.xml" Id="Rc635662a05a94c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d1193971443aa" /><Relationship Type="http://schemas.openxmlformats.org/officeDocument/2006/relationships/image" Target="/ppt/media/image4.png" Id="R5cca339f93154f9d" /><Relationship Type="http://schemas.openxmlformats.org/officeDocument/2006/relationships/image" Target="/ppt/media/image5.png" Id="R9dba140750954be2" /><Relationship Type="http://schemas.openxmlformats.org/officeDocument/2006/relationships/notesSlide" Target="/ppt/notesSlides/notesSlide8.xml" Id="R7855926873f84d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e740c94ea4cec" /><Relationship Type="http://schemas.openxmlformats.org/officeDocument/2006/relationships/image" Target="/ppt/media/image6.png" Id="R9c92ab0e7d6c4d63" /><Relationship Type="http://schemas.openxmlformats.org/officeDocument/2006/relationships/notesSlide" Target="/ppt/notesSlides/notesSlide9.xml" Id="R3fe58da888304c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e80f9f9c94e27" /><Relationship Type="http://schemas.openxmlformats.org/officeDocument/2006/relationships/notesSlide" Target="/ppt/notesSlides/notesSlide10.xml" Id="R413ae9e5463543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C80E17-F406-47FB-A87B-09BD08B4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F65B4A-B7F6-4763-84FD-6A2D1A00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5303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36C5F0"/>
                </a:solidFill>
              </a:rPr>
              <a:t>Нефтекод 2.0</a:t>
            </a:r>
            <a:endParaRPr sz="1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D9B02F-18BC-4BB7-A47D-5F25B275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8046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8FAFC"/>
                </a:solidFill>
              </a:rPr>
              <a:t>ЛИМС, ПАК и модели качества</a:t>
            </a:r>
            <a:endParaRPr sz="4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85A633-B037-408F-8D2E-24D1C890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057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B8C4D9"/>
                </a:solidFill>
              </a:rPr>
              <a:t>Как превращаем разрозненные замеры и телеметрию в безопасную рекомендацию оператору</a:t>
            </a:r>
            <a:endParaRPr sz="17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DF442C5-1738-44AE-84CE-64474E58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92040"/>
            <a:ext cx="1783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36C5F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FA88DE3-5D39-4D41-9E0B-EE569B43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92040"/>
            <a:ext cx="1783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3DDC97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A96D519-BF71-449A-AA6E-9F0D285C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892040"/>
            <a:ext cx="1783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FB70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186BF0C-74A1-49EC-83A7-B322DADA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892040"/>
            <a:ext cx="1783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F5C7A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5AD4BF-F436-41D4-B835-588D81F3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34840"/>
            <a:ext cx="14630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36C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453996A-8B51-4411-AFAC-37A55669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7136"/>
            <a:ext cx="131673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</a:rPr>
              <a:t>ДАННЫЕ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2D1D90F-E989-4E3E-BC7A-1B31C548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34840"/>
            <a:ext cx="14630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3DDC9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ED24C46-EFEB-45DF-BFA8-781041A7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4517136"/>
            <a:ext cx="131673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</a:rPr>
              <a:t>ПРОГНОЗ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488E799-71EC-404C-BB78-8B81CD97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434840"/>
            <a:ext cx="14630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FFB70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F0ABC06-638E-4C02-8C4F-F4FE46A1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4517136"/>
            <a:ext cx="131673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</a:rPr>
              <a:t>WHAT‑IF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1BF290B-0B44-4A96-9804-6B7FFC57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434840"/>
            <a:ext cx="146304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FF5C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0FF1832-99B8-4908-A6B0-B6DDDAFE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4517136"/>
            <a:ext cx="131673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</a:rPr>
              <a:t>SAFETY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B1E7C71-6B46-4B02-88D2-4BB0A7D4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434840"/>
            <a:ext cx="1554480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A78B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50E093F-AD6B-4DDC-81D4-94D06527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4517136"/>
            <a:ext cx="1408176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</a:rPr>
              <a:t>СОВЕТ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66C4464-2D56-4A68-9866-F655AA9D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8932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B8C4D9"/>
                </a:solidFill>
              </a:rPr>
              <a:t>Сводка по EDA и архитектуре МАС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7AEB8F-34EC-4E77-893F-92E0EDD2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AAB6C6"/>
                </a:solidFill>
                <a:latin typeface="Aptos"/>
                <a:ea typeface="Aptos"/>
                <a:cs typeface="Aptos"/>
              </a:rPr>
              <a:t>Нефтекод 2.0 · 1</a:t>
            </a:r>
          </a:p>
        </p:txBody>
      </p:sp>
    </p:spTree>
    <p:extLst>
      <p:ext uri="{BB962C8B-B14F-4D97-AF65-F5344CB8AC3E}">
        <p14:creationId xmlns:p14="http://schemas.microsoft.com/office/powerpoint/2010/main" val="1771546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F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8646CEE-7B48-4CA2-B29B-E2772178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256032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18C5F1"/>
                </a:solidFill>
                <a:latin typeface="Aptos"/>
                <a:ea typeface="Aptos"/>
                <a:cs typeface="Aptos"/>
              </a:rPr>
              <a:t>Нефтекод 2.0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4923378-34A4-40A0-B18C-1C315C60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566928"/>
            <a:ext cx="10058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Цель и источники для отлова режимов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A2E416A-CE8B-4D75-9EBD-19269901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987552"/>
            <a:ext cx="10607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AB6C6"/>
                </a:solidFill>
                <a:latin typeface="Aptos"/>
                <a:ea typeface="Aptos"/>
                <a:cs typeface="Aptos"/>
              </a:rPr>
              <a:t>Что именно строим и откуда понимаем состояние установки.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50CB40-F29D-4834-9BD9-5023C553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298448"/>
            <a:ext cx="11521440" cy="9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44A"/>
          </a:solidFill>
          <a:ln xmlns:a="http://schemas.openxmlformats.org/drawingml/2006/main">
            <a:solidFill>
              <a:srgbClr val="2634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FF3F36C-3CAF-429C-9220-4E7F3CBC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72768"/>
            <a:ext cx="10972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92B"/>
          </a:solidFill>
          <a:ln xmlns:a="http://schemas.openxmlformats.org/drawingml/2006/main" w="15240">
            <a:solidFill>
              <a:srgbClr val="FFC6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8E9D93-C961-4F24-AEB1-7888AC4A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737360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C600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5C5B6CB-44F4-4723-9601-D5BD447D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1664208"/>
            <a:ext cx="92354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65741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По текущему состоянию заранее поймать риск ухудшения качества и выбрать безопасное решение: KEEP или REFUSE.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7BBD187-14CB-4543-AEA9-2434F694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2139696"/>
            <a:ext cx="8869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AB6C6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2C290E9-D65C-451D-8450-5C669F62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3464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Режимы ловим по трём источникам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490035A-9C11-4EF8-B15B-54DB8EA9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324612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53E"/>
          </a:solidFill>
          <a:ln xmlns:a="http://schemas.openxmlformats.org/drawingml/2006/main" w="15240">
            <a:solidFill>
              <a:srgbClr val="18C5F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7D224CF-DCB3-44C2-AF65-04B2BB88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029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5F1"/>
          </a:solidFill>
          <a:ln xmlns:a="http://schemas.openxmlformats.org/drawingml/2006/main">
            <a:solidFill>
              <a:srgbClr val="18C5F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D88235D-D9E1-45D5-B1A3-E859CBC3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410712"/>
            <a:ext cx="29260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8C5F1"/>
                </a:solidFill>
                <a:latin typeface="Aptos"/>
                <a:ea typeface="Aptos"/>
                <a:cs typeface="Aptos"/>
              </a:rPr>
              <a:t>1. Телеметрия АВТ + 24‑2000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892D43F-B72E-4B60-B60B-DBFCACE0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794759"/>
            <a:ext cx="2926079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AB6C6"/>
                </a:solidFill>
                <a:latin typeface="Aptos"/>
                <a:ea typeface="Aptos"/>
                <a:cs typeface="Aptos"/>
              </a:rPr>
              <a:t>10‑минутные ряды: температуры, давления, расходы, уровни. Показывают, как сейчас работает установка.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0D7721E-8018-41F0-BDD1-6EB3353A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3246120"/>
            <a:ext cx="324612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53E"/>
          </a:solidFill>
          <a:ln xmlns:a="http://schemas.openxmlformats.org/drawingml/2006/main" w="15240">
            <a:solidFill>
              <a:srgbClr val="30D3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0C7EDAC-7A52-4ED5-99E6-733A9572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3246120"/>
            <a:ext cx="5029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D38A"/>
          </a:solidFill>
          <a:ln xmlns:a="http://schemas.openxmlformats.org/drawingml/2006/main">
            <a:solidFill>
              <a:srgbClr val="30D3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1CC9354-7CD2-46CF-A051-73D8D088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7" y="3410712"/>
            <a:ext cx="29260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0D38A"/>
                </a:solidFill>
                <a:latin typeface="Aptos"/>
                <a:ea typeface="Aptos"/>
                <a:cs typeface="Aptos"/>
              </a:rPr>
              <a:t>2. ПАК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5DAD09C-A1BC-4894-B72B-A9B70A4C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7" y="3794759"/>
            <a:ext cx="2926079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AB6C6"/>
                </a:solidFill>
                <a:latin typeface="Aptos"/>
                <a:ea typeface="Aptos"/>
                <a:cs typeface="Aptos"/>
              </a:rPr>
              <a:t>Оперативные анализаторы качества: сера, D15 и др. Показывают, куда качество движется сейчас.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49D79E7-DD79-49B2-806E-2865E437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46120"/>
            <a:ext cx="324612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53E"/>
          </a:solidFill>
          <a:ln xmlns:a="http://schemas.openxmlformats.org/drawingml/2006/main" w="15240">
            <a:solidFill>
              <a:srgbClr val="FFC6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653D7FB-EDD2-4CAE-B428-DFE76338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46120"/>
            <a:ext cx="5029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600"/>
          </a:solidFill>
          <a:ln xmlns:a="http://schemas.openxmlformats.org/drawingml/2006/main">
            <a:solidFill>
              <a:srgbClr val="FFC6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512B7AF-A57C-40D2-AACB-D284577E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3410712"/>
            <a:ext cx="29260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FC600"/>
                </a:solidFill>
                <a:latin typeface="Aptos"/>
                <a:ea typeface="Aptos"/>
                <a:cs typeface="Aptos"/>
              </a:rPr>
              <a:t>3. ЛИМС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C3AC36A-F2A1-40F7-8C53-05FFAE4B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28" y="3794759"/>
            <a:ext cx="2926079" cy="667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AB6C6"/>
                </a:solidFill>
                <a:latin typeface="Aptos"/>
                <a:ea typeface="Aptos"/>
                <a:cs typeface="Aptos"/>
              </a:rPr>
              <a:t>Редкие лабораторные пробы. Это контрольный факт качества для обучения и проверки моделей.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D1CCB22A-BA12-4D34-93AF-B11757B7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4892040"/>
            <a:ext cx="173736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18C5F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9922CE0F-D5CF-47E9-9D18-5CEAAE4F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892040"/>
            <a:ext cx="173736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30D38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016BE1E1-090D-4F26-9D6B-EC558BA9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892040"/>
            <a:ext cx="132588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FFC6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AF125A60-0830-4D04-BC0F-14F19949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63440"/>
            <a:ext cx="214884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1A2E"/>
          </a:solidFill>
          <a:ln xmlns:a="http://schemas.openxmlformats.org/drawingml/2006/main" w="13970">
            <a:solidFill>
              <a:srgbClr val="18C5F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C75860A-A6C8-4BE2-8495-9B543C8A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754880"/>
            <a:ext cx="868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18C5F1"/>
                </a:solidFill>
                <a:latin typeface="Aptos"/>
                <a:ea typeface="Aptos"/>
                <a:cs typeface="Aptos"/>
              </a:rPr>
              <a:t>Телеметрия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83E64B0-7C7C-4B7F-A2AD-A338F6AA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95604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AAB6C6"/>
                </a:solidFill>
                <a:latin typeface="Aptos"/>
                <a:ea typeface="Aptos"/>
                <a:cs typeface="Aptos"/>
              </a:rPr>
              <a:t>распознаём
технологический режим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40B200A-2248-4281-A828-E5176198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663440"/>
            <a:ext cx="214884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1A2E"/>
          </a:solidFill>
          <a:ln xmlns:a="http://schemas.openxmlformats.org/drawingml/2006/main" w="13970">
            <a:solidFill>
              <a:srgbClr val="30D38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FED2197-67D0-47F7-89C6-06F09D07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754880"/>
            <a:ext cx="868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30D38A"/>
                </a:solidFill>
                <a:latin typeface="Aptos"/>
                <a:ea typeface="Aptos"/>
                <a:cs typeface="Aptos"/>
              </a:rPr>
              <a:t>ПАК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16C0C7-C99F-401F-82A9-E8BB77B6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95604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AAB6C6"/>
                </a:solidFill>
                <a:latin typeface="Aptos"/>
                <a:ea typeface="Aptos"/>
                <a:cs typeface="Aptos"/>
              </a:rPr>
              <a:t>видим оперативное
качество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75B80A7D-7A4D-4477-B2AF-6D45F43F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663440"/>
            <a:ext cx="214884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1A2E"/>
          </a:solidFill>
          <a:ln xmlns:a="http://schemas.openxmlformats.org/drawingml/2006/main" w="13970">
            <a:solidFill>
              <a:srgbClr val="FFC6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639BEEC-9104-4C4E-9019-B6E8F68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868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C600"/>
                </a:solidFill>
                <a:latin typeface="Aptos"/>
                <a:ea typeface="Aptos"/>
                <a:cs typeface="Aptos"/>
              </a:rPr>
              <a:t>ЛИМС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8F428C85-9345-400C-BE41-A78998FE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604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AAB6C6"/>
                </a:solidFill>
                <a:latin typeface="Aptos"/>
                <a:ea typeface="Aptos"/>
                <a:cs typeface="Aptos"/>
              </a:rPr>
              <a:t>подтверждаем
фактический результат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7D98E0E6-B5F9-4851-8BE9-94509D06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63440"/>
            <a:ext cx="214884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1A2E"/>
          </a:solidFill>
          <a:ln xmlns:a="http://schemas.openxmlformats.org/drawingml/2006/main" w="13970">
            <a:solidFill>
              <a:srgbClr val="8F7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CA64239-C8E0-4C70-8F0C-A4AD759F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4754880"/>
            <a:ext cx="868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8F70FF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3894D59-DD2D-4F15-AD1D-64614F9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495604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AAB6C6"/>
                </a:solidFill>
                <a:latin typeface="Aptos"/>
                <a:ea typeface="Aptos"/>
                <a:cs typeface="Aptos"/>
              </a:rPr>
              <a:t>режим → лаг →
качество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7B37713E-49ED-4E7F-94EA-CE07BCB3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5788152"/>
            <a:ext cx="877824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D31"/>
          </a:solidFill>
          <a:ln xmlns:a="http://schemas.openxmlformats.org/drawingml/2006/main" w="12700">
            <a:solidFill>
              <a:srgbClr val="FF4E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D799D3CF-C50B-4DCC-A84D-F065D384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5907024"/>
            <a:ext cx="8229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32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1F5F9"/>
                </a:solidFill>
                <a:latin typeface="Arial"/>
                <a:ea typeface="Arial"/>
                <a:cs typeface="Arial"/>
              </a:rPr>
              <a:t>Изменение уставок заблокировано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ED69290-F7F6-4122-89E3-2A0DAB74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446520"/>
            <a:ext cx="18288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AAB6C6"/>
                </a:solidFill>
                <a:latin typeface="Aptos"/>
                <a:ea typeface="Aptos"/>
                <a:cs typeface="Aptos"/>
              </a:rPr>
              <a:t>Нефтекод 2.0 · 2</a:t>
            </a:r>
          </a:p>
        </p:txBody>
      </p:sp>
    </p:spTree>
    <p:extLst>
      <p:ext uri="{BB962C8B-B14F-4D97-AF65-F5344CB8AC3E}">
        <p14:creationId xmlns:p14="http://schemas.microsoft.com/office/powerpoint/2010/main" val="1439101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552102-214C-4177-A055-600758C2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4BD860-1451-462F-A4A4-A7918052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Карта источников: что с чем связано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FA3A9C-8E3B-4C0A-9427-F13998C1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10515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B8C4D9"/>
                </a:solidFill>
                <a:latin typeface="Arial"/>
                <a:ea typeface="Arial"/>
                <a:cs typeface="Arial"/>
              </a:rPr>
              <a:t>ЛИМС — не потоковая телеметрия. Это отдельные лабораторные факты качества.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F56E9C0-A05B-44E0-9096-40229AD0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61288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7B0F41C-2CAC-49EC-A6C4-90F7FD7C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91840"/>
            <a:ext cx="2377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36C5F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1977112-C5C6-4B68-87FC-0030277E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29184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3DDC97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4BA7A2-11F5-4F52-A099-33C406D5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291840"/>
            <a:ext cx="1645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FB70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80C3112-CC5E-4B23-982C-B6479372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228600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03AF514-9CDB-4596-9EF1-76DFAA6C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12700">
            <a:solidFill>
              <a:srgbClr val="36C5F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D454D8F-C36C-4594-88CA-792B4F3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95144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Телеметрия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7370492-C2EB-4E89-9FD0-5B8AB192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87752"/>
            <a:ext cx="196596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AVT + 24‑2000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10‑минутные ряды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температуры, давления, расходы</a:t>
            </a:r>
            <a:endParaRPr sz="10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C656094-30FB-405F-9F3F-FD5718AF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148840"/>
            <a:ext cx="228600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1D4A9E4-E48B-4342-9831-BAE4BECC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14884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12700">
            <a:solidFill>
              <a:srgbClr val="3DDC97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CBD3C8C-7EEE-425C-AF2C-736279E7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2295144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ПАК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F60CBE2-B0E5-4EB6-BFF3-33D336E2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2587752"/>
            <a:ext cx="196596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оперативные анализаторы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сера, D15 и др.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может ошибаться / выпадать</a:t>
            </a:r>
            <a:endParaRPr sz="10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FB0BEC-0691-448F-89EF-66D15ECB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48840"/>
            <a:ext cx="233172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269AEBF-C00F-4B37-8E65-C43708DF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14884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12700">
            <a:solidFill>
              <a:srgbClr val="FFB70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69D206C-8B43-42B3-B443-72546923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295144"/>
            <a:ext cx="2011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ЛИМС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856CAB2-47EC-4288-A31E-AA6712AD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587752"/>
            <a:ext cx="201168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редкие лабораторные пробы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ground truth качества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рандомные по времени</a:t>
            </a:r>
            <a:endParaRPr sz="10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13292B0-D1B2-49FB-BA4F-CB1A207C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148840"/>
            <a:ext cx="265176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4ABC277-78EF-4A83-87EA-EF814347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148840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12700">
            <a:solidFill>
              <a:srgbClr val="A78BF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9888BFE-BF76-4523-BB94-06CBF04E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295144"/>
            <a:ext cx="2331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Модель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A2E68DA-C381-4FE2-B815-0B945F8F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587752"/>
            <a:ext cx="2331720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история процесса до пробы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→ прогноз качества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→ риск нарушения</a:t>
            </a:r>
            <a:endParaRPr sz="10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E705171-20F4-4801-9561-E28D3A89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2926080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5C7A">
              <a:alpha val="90000"/>
            </a:srgbClr>
          </a:solidFill>
          <a:ln xmlns:a="http://schemas.openxmlformats.org/drawingml/2006/main" w="12700">
            <a:solidFill>
              <a:srgbClr val="FF5C7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ABAF3DA-EFEB-4447-9094-BC9D0864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919472"/>
            <a:ext cx="27066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</a:rPr>
              <a:t>НЕ джойним строка-к-строке</a:t>
            </a:r>
            <a:endParaRPr sz="92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D614DD0-9224-450E-87DA-5445EAD2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46320"/>
            <a:ext cx="3017520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36C5F0">
              <a:alpha val="90000"/>
            </a:srgbClr>
          </a:solidFill>
          <a:ln xmlns:a="http://schemas.openxmlformats.org/drawingml/2006/main" w="12700">
            <a:solidFill>
              <a:srgbClr val="36C5F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0E44E1D-200D-4AF9-9BEB-1B3CAD03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928" y="4919472"/>
            <a:ext cx="279806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</a:rPr>
              <a:t>Синхронизация только по времени</a:t>
            </a:r>
            <a:endParaRPr sz="92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5CE5407-8ED6-4DDD-BC66-9400C6CA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4846320"/>
            <a:ext cx="3200400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3DDC97">
              <a:alpha val="90000"/>
            </a:srgbClr>
          </a:solidFill>
          <a:ln xmlns:a="http://schemas.openxmlformats.org/drawingml/2006/main" w="12700">
            <a:solidFill>
              <a:srgbClr val="3DDC97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50ECB5B-0851-4D9B-9705-84857055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919472"/>
            <a:ext cx="29809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</a:rPr>
              <a:t>Храним age / freshness анализа</a:t>
            </a:r>
            <a:endParaRPr sz="92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7693555-2AA3-483A-8008-E921FE59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F8FAFC"/>
                </a:solidFill>
              </a:rPr>
              <a:t>Важно: одинаковое время ЛИМС в разных точках ещё не доказывает, что это одна материальная порция. Нужны точка отбора, время отбора и желательно ID пробы.</a:t>
            </a:r>
            <a:endParaRPr sz="14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EA8F2FF-0880-4E49-98B1-C8FEFC42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AAB6C6"/>
                </a:solidFill>
                <a:latin typeface="Aptos"/>
                <a:ea typeface="Aptos"/>
                <a:cs typeface="Aptos"/>
              </a:rPr>
              <a:t>Нефтекод 2.0 · 3</a:t>
            </a:r>
          </a:p>
        </p:txBody>
      </p:sp>
    </p:spTree>
    <p:extLst>
      <p:ext uri="{BB962C8B-B14F-4D97-AF65-F5344CB8AC3E}">
        <p14:creationId xmlns:p14="http://schemas.microsoft.com/office/powerpoint/2010/main" val="530800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DE384A-2114-4495-8030-A8638B2E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2F3E27-933E-46FA-B194-4DE7B60A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Что уже видно по ЛИМС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C950E6D-8BBE-4089-A2BE-6865156B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10515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B8C4D9"/>
                </a:solidFill>
                <a:latin typeface="Arial"/>
                <a:ea typeface="Arial"/>
                <a:cs typeface="Arial"/>
              </a:rPr>
              <a:t>Сера — реальная задача риска, а не искусственный target.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4755C5A-DE60-49F9-AF4E-79630F1E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61288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6DB9ADF-9B03-4E1C-B453-778F10DC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08760"/>
            <a:ext cx="1600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739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EE7AE0-A236-40CF-B742-5EC93DD4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55064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36C5F0"/>
                </a:solidFill>
              </a:rPr>
              <a:t>1462</a:t>
            </a:r>
            <a:endParaRPr sz="2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31F7148-B9AD-49B1-B587-1C2D3A90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66544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B8C4D9"/>
                </a:solidFill>
              </a:rPr>
              <a:t>лабораторных замера серы</a:t>
            </a:r>
            <a:endParaRPr sz="93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C76AC91-A5F6-4E49-8C67-BC9CF59B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508760"/>
            <a:ext cx="1600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739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84F6050-7488-4EDD-A2E7-B43DEAE1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1655064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3DDC97"/>
                </a:solidFill>
              </a:rPr>
              <a:t>8.6</a:t>
            </a:r>
            <a:endParaRPr sz="2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F091B26-D7C9-4B05-B0F2-37CD4557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176" y="2066544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B8C4D9"/>
                </a:solidFill>
              </a:rPr>
              <a:t>медиана, мг/кг</a:t>
            </a:r>
            <a:endParaRPr sz="93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4FF5352-8F0F-4D7A-838B-697927DF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1508760"/>
            <a:ext cx="1600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739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6B7EBC-6FB9-4A9F-8B88-F296BFB6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1655064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FFB703"/>
                </a:solidFill>
              </a:rPr>
              <a:t>15.7%</a:t>
            </a:r>
            <a:endParaRPr sz="2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742EF5E-07BF-4680-83BA-9B979704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066544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B8C4D9"/>
                </a:solidFill>
              </a:rPr>
              <a:t>выше 10 мг/кг</a:t>
            </a:r>
            <a:endParaRPr sz="93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C5C80B0-FF54-4666-9884-B7AA220A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1508760"/>
            <a:ext cx="1600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739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0F56192-AC66-4FFF-B182-D3B85A93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1655064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FF5C7A"/>
                </a:solidFill>
              </a:rPr>
              <a:t>2120</a:t>
            </a:r>
            <a:endParaRPr sz="2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30D9067-2EF3-40D9-98F1-42991B8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2066544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B8C4D9"/>
                </a:solidFill>
              </a:rPr>
              <a:t>экстремум: проверить</a:t>
            </a:r>
            <a:endParaRPr sz="93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DB31704-F7BD-4F75-BB69-65A875E1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4640"/>
            <a:ext cx="7498080" cy="3063240"/>
          </a:xfrm>
          <a:prstGeom xmlns:a="http://schemas.openxmlformats.org/drawingml/2006/main" prst="roundRect">
            <a:avLst>
              <a:gd name="adj" fmla="val 20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0ecab493b4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952457"/>
            <a:ext cx="7351776" cy="2827606"/>
          </a:xfrm>
          <a:prstGeom xmlns:a="http://schemas.openxmlformats.org/drawingml/2006/main" prst="rect">
            <a:avLst/>
          </a:prstGeom>
        </p:spPr>
      </p:pic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1AF29F1-513D-4AE9-AAF9-CADFA7D3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834640"/>
            <a:ext cx="3017520" cy="306324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4DDEB8C-09F3-4CB3-B0FD-2D6EC396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834640"/>
            <a:ext cx="73152" cy="3063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12700">
            <a:solidFill>
              <a:srgbClr val="FFB70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8D3C195-7376-4DE4-96FE-30305B6E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980944"/>
            <a:ext cx="2697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Вывод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C11F4DFE-4793-4615-A96C-CB9BEF53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3273552"/>
            <a:ext cx="2697480" cy="2532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Нужна не только регрессия серы, но и классификация риска:</a:t>
            </a:r>
            <a:endParaRPr sz="1020"/>
          </a:p>
          <a:p xmlns:a="http://schemas.openxmlformats.org/drawingml/2006/main">
            <a:pPr marL="0" indent="0">
              <a:buNone/>
            </a:pP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P(Sulfur &gt; 10 мг/кг)</a:t>
            </a:r>
            <a:endParaRPr sz="1020"/>
          </a:p>
          <a:p xmlns:a="http://schemas.openxmlformats.org/drawingml/2006/main">
            <a:pPr marL="0" indent="0">
              <a:buNone/>
            </a:pP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Превышения по месяцам неравномерные → процесс нестационарный.</a:t>
            </a:r>
            <a:endParaRPr sz="102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9827226-5FB2-4BD7-B02F-59968E58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AAB6C6"/>
                </a:solidFill>
                <a:latin typeface="Aptos"/>
                <a:ea typeface="Aptos"/>
                <a:cs typeface="Aptos"/>
              </a:rPr>
              <a:t>Нефтекод 2.0 · 4</a:t>
            </a:r>
          </a:p>
        </p:txBody>
      </p:sp>
    </p:spTree>
    <p:extLst>
      <p:ext uri="{BB962C8B-B14F-4D97-AF65-F5344CB8AC3E}">
        <p14:creationId xmlns:p14="http://schemas.microsoft.com/office/powerpoint/2010/main" val="1994368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EA4090-D74B-4EA9-80A3-7391C83C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C92779-40AF-4007-BDBB-D41B6472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Выбросы: что делаем с грязью в данных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9B55280-715A-4F6C-AD97-6E09D141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10515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B8C4D9"/>
                </a:solidFill>
                <a:latin typeface="Arial"/>
                <a:ea typeface="Arial"/>
                <a:cs typeface="Arial"/>
              </a:rPr>
              <a:t>Редкое значение ≠ ошибка. Плохой режим может быть самым ценным примером.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C6EE6E-BE81-41FB-8C3D-BE5D0E6C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61288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7799C60-A4B4-4A4D-AFA0-A86CF2E7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34640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36C5F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6A319DB-DF74-4F71-AC81-8F68DD7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34640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FB70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D6BB349-C776-4A69-AB27-C8AFD03B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4640"/>
            <a:ext cx="1280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F5C7A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A2BD00A-7814-47FD-9192-5C8EED73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48840"/>
            <a:ext cx="246888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F0A61E2-365E-46D5-BDF3-9840BF43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48840"/>
            <a:ext cx="7315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12700">
            <a:solidFill>
              <a:srgbClr val="3DDC97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A29835-772E-4553-A0A1-3CC39D32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295144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Нормальные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B76DDC1-B415-4124-975A-628992B0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587752"/>
            <a:ext cx="21488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используем как есть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для обучения и валидации</a:t>
            </a:r>
            <a:endParaRPr sz="10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EEC27B1-F151-4816-A0B7-0C89EF9A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48840"/>
            <a:ext cx="246888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59297D5-14A5-4076-8834-22ECAA12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48840"/>
            <a:ext cx="7315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12700">
            <a:solidFill>
              <a:srgbClr val="FFB70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3F80BF4-DDD6-4C40-A733-185089D0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2295144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Подозрительные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AD1DF8C-08B0-4F79-9BB6-D8530B7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2587752"/>
            <a:ext cx="21488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оставляем, но ставим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is_anomaly = 1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confidence ниже</a:t>
            </a:r>
            <a:endParaRPr sz="10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BC831A8-C189-460D-8004-D94ACD57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48840"/>
            <a:ext cx="246888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066E910-E97E-4F72-A799-5DA01EFE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48840"/>
            <a:ext cx="7315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12700">
            <a:solidFill>
              <a:srgbClr val="FF5C7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63253EC-10D9-4926-93EC-7D1EC15A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295144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Некорректные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6F417DE-4CF3-4ED1-A26C-34ABF9DE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8" y="2587752"/>
            <a:ext cx="214884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не используем как target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например T95 = 0</a:t>
            </a:r>
            <a:endParaRPr sz="10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7C87642-8A21-4E22-8444-02DB6EDA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14884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AD8FCB4-8CA1-40F7-98B9-EF1B5933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148840"/>
            <a:ext cx="73152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12700">
            <a:solidFill>
              <a:srgbClr val="A78BF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9CDE70C-8984-4AA5-9216-C03BC78C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295144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Логи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9F0C627-4B26-469D-A5C3-1650D2B6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587752"/>
            <a:ext cx="160020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причина флага: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range / physics / stale</a:t>
            </a:r>
            <a:endParaRPr sz="10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1FB7B55B-0736-4793-BE11-82F02ED8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7680"/>
            <a:ext cx="4892040" cy="109728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36C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B59C7BA-177C-495E-955A-8D697A88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0560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36C5F0"/>
                </a:solidFill>
              </a:rPr>
              <a:t>Правило физики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76F539-59A5-4216-AD83-6716B54B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16552"/>
            <a:ext cx="2103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8FAFC"/>
                </a:solidFill>
              </a:rPr>
              <a:t>T50 ≤ T90 ≤ T95</a:t>
            </a:r>
            <a:endParaRPr sz="1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38D9587-774C-4B86-BA1E-EFECC5B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4389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B8C4D9"/>
                </a:solidFill>
              </a:rPr>
              <a:t>Если порядок ломается — анализ подозрительный.</a:t>
            </a:r>
            <a:endParaRPr sz="11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E56C36A-BC13-4E42-A452-2FDAA709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97680"/>
            <a:ext cx="5257800" cy="109728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FFB70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A6A7D84-E2C6-48E6-ABCC-035F4FD9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480560"/>
            <a:ext cx="4389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B703"/>
                </a:solidFill>
              </a:rPr>
              <a:t>Не удаляем автоматически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2C4D80F-1146-427B-BB48-B4E72C36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873752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B8C4D9"/>
                </a:solidFill>
              </a:rPr>
              <a:t>Sulfur = 14 мг/кг — это может быть реальный риск, а не “мусор”.</a:t>
            </a:r>
            <a:endParaRPr sz="11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FD28CDB-2660-4854-9ECB-D63474CB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AAB6C6"/>
                </a:solidFill>
                <a:latin typeface="Aptos"/>
                <a:ea typeface="Aptos"/>
                <a:cs typeface="Aptos"/>
              </a:rPr>
              <a:t>Нефтекод 2.0 · 5</a:t>
            </a:r>
          </a:p>
        </p:txBody>
      </p:sp>
    </p:spTree>
    <p:extLst>
      <p:ext uri="{BB962C8B-B14F-4D97-AF65-F5344CB8AC3E}">
        <p14:creationId xmlns:p14="http://schemas.microsoft.com/office/powerpoint/2010/main" val="666909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E314F2-DB09-4EC8-96B3-662BD81A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4CFFC82-6476-469F-B2C4-F3D800E1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Корреляции: что уже можно использовать как гипотезы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812383-1FEE-4921-8C9F-9AE00BA2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10515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B8C4D9"/>
                </a:solidFill>
                <a:latin typeface="Arial"/>
                <a:ea typeface="Arial"/>
                <a:cs typeface="Arial"/>
              </a:rPr>
              <a:t>ПАК по D15 выглядит полезно, ПАК по сере — слабее. Все лаги пока разведочные.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4187BB-CDF3-4031-8DDF-11D668D8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61288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F1B54FE-C6F6-41B3-A2CC-276C80B0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4297680" cy="4206240"/>
          </a:xfrm>
          <a:prstGeom xmlns:a="http://schemas.openxmlformats.org/drawingml/2006/main" prst="roundRect">
            <a:avLst>
              <a:gd name="adj" fmla="val 1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8b762e3124d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741279"/>
            <a:ext cx="4151376" cy="3558322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3EFE81C-D1F6-4D2B-820A-FDC70665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17320"/>
            <a:ext cx="4297680" cy="4206240"/>
          </a:xfrm>
          <a:prstGeom xmlns:a="http://schemas.openxmlformats.org/drawingml/2006/main" prst="roundRect">
            <a:avLst>
              <a:gd name="adj" fmla="val 1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0782b86dd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0952" y="1741279"/>
            <a:ext cx="4151376" cy="3558322"/>
          </a:xfrm>
          <a:prstGeom xmlns:a="http://schemas.openxmlformats.org/drawingml/2006/main" prst="rect">
            <a:avLst/>
          </a:prstGeom>
        </p:spPr>
      </p:pic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54E43E4-24C2-4756-ABA4-BF8F54C5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1600200"/>
            <a:ext cx="1600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739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8865BA5-594D-4400-9653-B0211BCD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746504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FF5C7A"/>
                </a:solidFill>
              </a:rPr>
              <a:t>r≈0.34</a:t>
            </a:r>
            <a:endParaRPr sz="2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1189125-1680-41D2-B5C2-B9FFD647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2157984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B8C4D9"/>
                </a:solidFill>
              </a:rPr>
              <a:t>ПАК↔ЛИМС по сере</a:t>
            </a:r>
            <a:endParaRPr sz="93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9E45FF2-314E-4CCA-8109-2EF498FC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788920"/>
            <a:ext cx="16002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739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AFA4AA5-1648-407B-AD96-18B5ADB1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35224"/>
            <a:ext cx="13258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3DDC97"/>
                </a:solidFill>
              </a:rPr>
              <a:t>r≈0.89</a:t>
            </a:r>
            <a:endParaRPr sz="23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0B62147-3F5A-48C8-B218-9AFCEC73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3346704"/>
            <a:ext cx="128930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B8C4D9"/>
                </a:solidFill>
              </a:rPr>
              <a:t>ПАК↔ЛИМС по D15</a:t>
            </a:r>
            <a:endParaRPr sz="93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2EFB2E03-C111-4EF1-8390-304ACA97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97880"/>
            <a:ext cx="10515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F8FAFC"/>
                </a:solidFill>
              </a:rPr>
              <a:t>Трактовка: D15 можно уверенно брать как оперативный сигнал; серу через ПАК лучше использовать осторожно и с понижением confidence.</a:t>
            </a:r>
            <a:endParaRPr sz="132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A05FDD2D-67E2-4698-9E80-8A82FE31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AAB6C6"/>
                </a:solidFill>
                <a:latin typeface="Aptos"/>
                <a:ea typeface="Aptos"/>
                <a:cs typeface="Aptos"/>
              </a:rPr>
              <a:t>Нефтекод 2.0 · 6</a:t>
            </a:r>
          </a:p>
        </p:txBody>
      </p:sp>
    </p:spTree>
    <p:extLst>
      <p:ext uri="{BB962C8B-B14F-4D97-AF65-F5344CB8AC3E}">
        <p14:creationId xmlns:p14="http://schemas.microsoft.com/office/powerpoint/2010/main" val="1618571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DEF76EA-4A6F-4C12-B29A-470C47B8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B0A479-D3A0-4542-9901-B0DEB4E1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Как правильно считать датасет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977A65D-E3B1-4A0C-AFB3-5579E90A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10515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B8C4D9"/>
                </a:solidFill>
                <a:latin typeface="Arial"/>
                <a:ea typeface="Arial"/>
                <a:cs typeface="Arial"/>
              </a:rPr>
              <a:t>Обучающая строка = один лабораторный анализ, а не каждые 10 минут телеметрии.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9F18CE4-3DF6-40C1-845A-8C689D60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61288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9D09CAB-6482-40E7-BB57-2A197F13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880360"/>
            <a:ext cx="196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36C5F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2BF755-B418-40A7-B2A6-B2C82FEE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80360"/>
            <a:ext cx="1965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3DDC97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299A301-1D9F-43BE-BE01-F0F90D46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880360"/>
            <a:ext cx="1645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FB70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AA40ECF-ED0E-471F-B6DF-1C05508D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31720"/>
            <a:ext cx="201168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FFB70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C50153-B044-4927-A43A-E62CF9EE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414016"/>
            <a:ext cx="1865376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8FAFC"/>
                </a:solidFill>
              </a:rPr>
              <a:t>ЛИМС-проба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8FAFC"/>
                </a:solidFill>
              </a:rPr>
              <a:t>Sulfur = 8.7</a:t>
            </a:r>
            <a:endParaRPr sz="13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1BB2516-48EF-4D53-ADCA-683B0709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31720"/>
            <a:ext cx="23317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36C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ECAB6C4-12FA-4F27-B020-6FC15656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414016"/>
            <a:ext cx="2185416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</a:rPr>
              <a:t>История ДО пробы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</a:rPr>
              <a:t>30м · 1ч · 2ч · 6ч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31854A7-42ED-42C2-A4AD-D6A96BD3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31720"/>
            <a:ext cx="228600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3DDC9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7DF4A7E-8F0F-44E6-8902-1538864B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414016"/>
            <a:ext cx="2139696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</a:rPr>
              <a:t>Lag / rolling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</a:rPr>
              <a:t>mean · std · slope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56C7EA0-08BC-472A-A0D2-E710BB9C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331720"/>
            <a:ext cx="19202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A78B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04A7EDA-02EF-40F6-96B1-B5A8F894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072" y="2414016"/>
            <a:ext cx="1773936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8FAFC"/>
                </a:solidFill>
              </a:rPr>
              <a:t>Target</a:t>
            </a:r>
            <a:endParaRPr sz="1300"/>
          </a:p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8FAFC"/>
                </a:solidFill>
              </a:rPr>
              <a:t>для ML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2844E9F-43E1-4CB8-A364-43146F51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97680"/>
            <a:ext cx="338328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8FB110C-85E0-4ECF-ACE1-F3923133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97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12700">
            <a:solidFill>
              <a:srgbClr val="36C5F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913072A-1FDC-47E3-AA80-9FB08EC4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443984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Что входит в X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C61A2C7-A34C-46EE-BE76-5764C911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36592"/>
            <a:ext cx="3063240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телеметрия АВТ + 24‑2000, ПАК, предыдущий ЛИМС, age/freshness, признаки сырья</a:t>
            </a:r>
            <a:endParaRPr sz="102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E4B01D5-8893-40D1-8D10-547E4616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297680"/>
            <a:ext cx="31089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276C41C-4466-4B19-850E-C687229B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297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12700">
            <a:solidFill>
              <a:srgbClr val="3DDC97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C9E5049-0330-45FB-BCA2-3AF313A0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443984"/>
            <a:ext cx="2788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Что входит в y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E61AAD6-3A58-4C50-82E4-8AA7521C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736592"/>
            <a:ext cx="2788920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отдельный target: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Sulfur, T95, FlashPoint, D15</a:t>
            </a:r>
            <a:endParaRPr sz="10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51465E1-8D2B-4044-9A83-6CCC81F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97680"/>
            <a:ext cx="34747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3B6F642-86BD-460F-87FD-EF578EBB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97680"/>
            <a:ext cx="73152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12700">
            <a:solidFill>
              <a:srgbClr val="FF5C7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080E3F1-225B-47A9-9E3A-F1B98210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443984"/>
            <a:ext cx="3154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Что запрещено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6D7BB93-D979-4EB4-AC29-5A847331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736592"/>
            <a:ext cx="3154680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не используем будущие значения и не делаем случайный train/test split</a:t>
            </a:r>
            <a:endParaRPr sz="102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2F45EE8-26CD-4AC5-AB94-6D3F9594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AAB6C6"/>
                </a:solidFill>
                <a:latin typeface="Aptos"/>
                <a:ea typeface="Aptos"/>
                <a:cs typeface="Aptos"/>
              </a:rPr>
              <a:t>Нефтекод 2.0 · 7</a:t>
            </a:r>
          </a:p>
        </p:txBody>
      </p:sp>
    </p:spTree>
    <p:extLst>
      <p:ext uri="{BB962C8B-B14F-4D97-AF65-F5344CB8AC3E}">
        <p14:creationId xmlns:p14="http://schemas.microsoft.com/office/powerpoint/2010/main" val="1067927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9A288D-BFDE-488D-8A71-A0DC3B8A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48C0BC-276A-438D-92A6-08F1B1E6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Модели: что уже работает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02051B-A135-4E94-9559-14E0DD4C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10515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B8C4D9"/>
                </a:solidFill>
                <a:latin typeface="Arial"/>
                <a:ea typeface="Arial"/>
                <a:cs typeface="Arial"/>
              </a:rPr>
              <a:t>Два блока обучены и подключены к единому API. Safety сохраняет защитный отказ.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A35EE03-5EC1-4DC1-A12E-1BE55AC5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61288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989AFD8-E403-4339-AADD-3030AA53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2918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637047E-8F87-4F6C-98B1-D3EDE7DD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 w="12700">
            <a:solidFill>
              <a:srgbClr val="FFB70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7E02513-8E39-407F-ACB1-01E44283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55064"/>
            <a:ext cx="2971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1. QualityAgent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12D594B-D3A5-44D3-BA60-2D34A4D3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2971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H+C: ПАК + телеметрия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MAE 1,36 мг/кг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37C6522-D78D-4B35-B9F6-AC757570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08760"/>
            <a:ext cx="32918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E24FD45-CEA7-4BCB-81DC-21CA6F08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50876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12700">
            <a:solidFill>
              <a:srgbClr val="3DDC97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6DEE6D-3ADC-49DC-B26E-96EB4091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55064"/>
            <a:ext cx="2971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2. ReliabilityAgent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2EB4ACB-8FDF-415B-9783-FE55502D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947672"/>
            <a:ext cx="2971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Isolation Forest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4 группы оборудования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F8EE87B-CCAA-4C15-B174-7D05B123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508760"/>
            <a:ext cx="329184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558728E-B66D-4ED0-861C-04B2E9CC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508760"/>
            <a:ext cx="73152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12700">
            <a:solidFill>
              <a:srgbClr val="FF5C7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56193C1-1A6C-44A3-BB3D-16023E8C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55064"/>
            <a:ext cx="2971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3. Safety + Orchestrator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D4ACE08-564B-408B-9C0A-142CC5DE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947672"/>
            <a:ext cx="2971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Fail-closed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>KEEP / REFUSE</a:t>
            </a:r>
            <a:endParaRPr sz="10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879202F-D7B6-4A4E-972A-C68A888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5074920" cy="2331720"/>
          </a:xfrm>
          <a:prstGeom xmlns:a="http://schemas.openxmlformats.org/drawingml/2006/main" prst="roundRect">
            <a:avLst>
              <a:gd name="adj" fmla="val 27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a339f93154f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3520" y="3136392"/>
            <a:ext cx="3642360" cy="2185416"/>
          </a:xfrm>
          <a:prstGeom xmlns:a="http://schemas.openxmlformats.org/drawingml/2006/main" prst="rect">
            <a:avLst/>
          </a:prstGeom>
        </p:spPr>
      </p:pic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FD58AC7-4ECC-4EBC-9BC5-1B3C34CB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63240"/>
            <a:ext cx="5074920" cy="2331720"/>
          </a:xfrm>
          <a:prstGeom xmlns:a="http://schemas.openxmlformats.org/drawingml/2006/main" prst="roundRect">
            <a:avLst>
              <a:gd name="adj" fmla="val 27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a140750954b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71360" y="3136392"/>
            <a:ext cx="3642360" cy="2185416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3605EA8-9626-4384-B372-3B35D46E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06440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8FAFC"/>
                </a:solidFill>
              </a:rPr>
              <a:t>Quality: PR-AUC 0,60 при базе 0,21. Reliability показывает отклонение режима; в истории нет меток отказов, поэтому это не вероятность аварии.</a:t>
            </a:r>
            <a:endParaRPr sz="13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37128AF-3E9F-420D-A8A2-2BCCC2B9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AAB6C6"/>
                </a:solidFill>
                <a:latin typeface="Aptos"/>
                <a:ea typeface="Aptos"/>
                <a:cs typeface="Aptos"/>
              </a:rPr>
              <a:t>Нефтекод 2.0 · 8</a:t>
            </a:r>
          </a:p>
        </p:txBody>
      </p:sp>
    </p:spTree>
    <p:extLst>
      <p:ext uri="{BB962C8B-B14F-4D97-AF65-F5344CB8AC3E}">
        <p14:creationId xmlns:p14="http://schemas.microsoft.com/office/powerpoint/2010/main" val="513025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28667A-0DB2-48AA-8790-F73C3041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DFFEE9-2806-480D-92FA-D3A6F6B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Сквозной расчёт уже работает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91CA26-52CA-427B-B2E1-C274291D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10515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B8C4D9"/>
                </a:solidFill>
                <a:latin typeface="Arial"/>
                <a:ea typeface="Arial"/>
                <a:cs typeface="Arial"/>
              </a:rPr>
              <a:t>Реальные измерения проходят через четыре блока; происхождение допущений видно в ответе.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09DA61F-23FB-42F8-8F98-93C34701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61288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049BCFB-2B69-4CA3-AD78-63EA39F1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20240"/>
            <a:ext cx="1234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36C5F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3A4BB2F-A205-44E1-BBAE-DAA251E4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920240"/>
            <a:ext cx="1234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3DDC97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1F326E8-A30C-40F0-9CDB-D1EBAAD4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920240"/>
            <a:ext cx="12344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FB703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D463E33-8A7D-4D40-AF47-D77EFC9D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0240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FF5C7A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D55AA36-2B8D-41D3-9A7E-524F620E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16459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FFB70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F28B4C5-1225-4203-8878-EF28D37C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499616"/>
            <a:ext cx="1499616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8FAFC"/>
                </a:solidFill>
              </a:rPr>
              <a:t>Вход</a:t>
            </a:r>
            <a:endParaRPr sz="1150"/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8FAFC"/>
                </a:solidFill>
              </a:rPr>
              <a:t>+ история</a:t>
            </a:r>
            <a:endParaRPr sz="11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E2C48A5-ADDA-4D36-BB64-14185614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17320"/>
            <a:ext cx="18288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3DDC9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51CC34B-3CA2-4B65-88AA-2E53EC9A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1499616"/>
            <a:ext cx="1682496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8FAFC"/>
                </a:solidFill>
              </a:rPr>
              <a:t>Quality</a:t>
            </a:r>
            <a:endParaRPr sz="1150"/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8FAFC"/>
                </a:solidFill>
              </a:rPr>
              <a:t>Agent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B5DC7B9-361E-4273-8C8C-592B2E2A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417320"/>
            <a:ext cx="18288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36C5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0DEC61-10AC-4301-B9DF-544B408E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1499616"/>
            <a:ext cx="1682496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8FAFC"/>
                </a:solidFill>
              </a:rPr>
              <a:t>Reliability</a:t>
            </a:r>
            <a:endParaRPr sz="1100"/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8FAFC"/>
                </a:solidFill>
              </a:rPr>
              <a:t>Agent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1B37CEC-0D16-48B8-B24C-7A7F4F0C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17320"/>
            <a:ext cx="18288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FF5C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AAEB33-F349-43C7-A2AE-A0CB450D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499616"/>
            <a:ext cx="1682496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8FAFC"/>
                </a:solidFill>
              </a:rPr>
              <a:t>Optimizer</a:t>
            </a:r>
            <a:endParaRPr sz="1150"/>
          </a:p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8FAFC"/>
                </a:solidFill>
              </a:rPr>
              <a:t>+ Safety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1EE07CF-C498-49D7-B8BA-B18FB58B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17320"/>
            <a:ext cx="141732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6510">
            <a:solidFill>
              <a:srgbClr val="A78B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236D94C-72A9-459E-BBF5-10D0956C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152" y="1499616"/>
            <a:ext cx="1271016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8FAFC"/>
                </a:solidFill>
              </a:rPr>
              <a:t>Решение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56286FF-0F34-47C9-A9E9-AE357675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4983480" cy="246888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DE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2ab0e7d6c4d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232" y="3276014"/>
            <a:ext cx="4837176" cy="1860452"/>
          </a:xfrm>
          <a:prstGeom xmlns:a="http://schemas.openxmlformats.org/drawingml/2006/main" prst="rect">
            <a:avLst/>
          </a:prstGeom>
        </p:spPr>
      </p:pic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435BD3-6605-4DD2-A83D-429F2698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971800"/>
            <a:ext cx="5212080" cy="246888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6233E"/>
          </a:solidFill>
          <a:ln xmlns:a="http://schemas.openxmlformats.org/drawingml/2006/main" w="12700">
            <a:solidFill>
              <a:srgbClr val="2B3F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4499802-2EF7-4666-9042-62B1A875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971800"/>
            <a:ext cx="73152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12700">
            <a:solidFill>
              <a:srgbClr val="A78BF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643558E-CB3F-42A8-9EA5-FFF819D8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118104"/>
            <a:ext cx="4892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8FAFC"/>
                </a:solidFill>
              </a:rPr>
              <a:t>Результат текущего API</a:t>
            </a:r>
            <a:endParaRPr sz="12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29BA610-01DD-4814-8079-D7DB3989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3410712"/>
            <a:ext cx="4892040" cy="19385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9039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solidFill>
                  <a:srgbClr val="C6D0E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6D0E0"/>
                </a:solidFill>
                <a:latin typeface="Arial"/>
                <a:ea typeface="Arial"/>
                <a:cs typeface="Arial"/>
              </a:rPr>
              <a:t>Расчётная смесь: реальные телеметрия и ПАК + допущение 80/20</a:t>
            </a:r>
            <a:endParaRPr sz="1020"/>
          </a:p>
          <a:p xmlns:a="http://schemas.openxmlformats.org/drawingml/2006/main">
            <a:pPr marL="0" indent="0">
              <a:buNone/>
              <a:defRPr sz="1350">
                <a:solidFill>
                  <a:srgbClr val="C6D0E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6D0E0"/>
                </a:solidFill>
                <a:latin typeface="Arial"/>
                <a:ea typeface="Arial"/>
                <a:cs typeface="Arial"/>
              </a:rPr>
              <a:t>Прогноз серы: 7,27 мг/кг</a:t>
            </a:r>
            <a:endParaRPr sz="1020"/>
          </a:p>
          <a:p xmlns:a="http://schemas.openxmlformats.org/drawingml/2006/main">
            <a:pPr marL="0" indent="0">
              <a:buNone/>
              <a:defRPr sz="1350">
                <a:solidFill>
                  <a:srgbClr val="C6D0E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6D0E0"/>
                </a:solidFill>
                <a:latin typeface="Arial"/>
                <a:ea typeface="Arial"/>
                <a:cs typeface="Arial"/>
              </a:rPr>
              <a:t>Надёжность: HIGH, индекс отклонения 1,00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/>
            </a:r>
            <a:endParaRPr sz="1020"/>
          </a:p>
          <a:p xmlns:a="http://schemas.openxmlformats.org/drawingml/2006/main">
            <a:pPr marL="0" indent="0">
              <a:buNone/>
              <a:defRPr sz="1350">
                <a:solidFill>
                  <a:srgbClr val="C6D0E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6D0E0"/>
                </a:solidFill>
                <a:latin typeface="Arial"/>
                <a:ea typeface="Arial"/>
                <a:cs typeface="Arial"/>
              </a:rPr>
              <a:t>Решение: KEEP</a:t>
            </a:r>
            <a:endParaRPr sz="1020"/>
          </a:p>
          <a:p xmlns:a="http://schemas.openxmlformats.org/drawingml/2006/main">
            <a:pPr marL="0" indent="0">
              <a:buNone/>
              <a:defRPr sz="1350">
                <a:solidFill>
                  <a:srgbClr val="C6D0E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6D0E0"/>
                </a:solidFill>
                <a:latin typeface="Arial"/>
                <a:ea typeface="Arial"/>
                <a:cs typeface="Arial"/>
              </a:rPr>
              <a:t>Текущий режим прошёл Safety; лучший вариант — NO_CHANGE.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B8C4D9"/>
                </a:solidFill>
              </a:rPr>
              <a:t/>
            </a:r>
            <a:endParaRPr sz="1020"/>
          </a:p>
          <a:p xmlns:a="http://schemas.openxmlformats.org/drawingml/2006/main">
            <a:pPr marL="0" indent="0">
              <a:buNone/>
              <a:defRPr sz="1350">
                <a:solidFill>
                  <a:srgbClr val="C6D0E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6D0E0"/>
                </a:solidFill>
                <a:latin typeface="Arial"/>
                <a:ea typeface="Arial"/>
                <a:cs typeface="Arial"/>
              </a:rPr>
              <a:t>Рецептура SYNTHETIC. Изменение уставок заблокировано.</a:t>
            </a:r>
            <a:endParaRPr sz="102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4553030F-D214-45A6-B464-229D3D6E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AAB6C6"/>
                </a:solidFill>
                <a:latin typeface="Aptos"/>
                <a:ea typeface="Aptos"/>
                <a:cs typeface="Aptos"/>
              </a:rPr>
              <a:t>Нефтекод 2.0 · 9</a:t>
            </a:r>
          </a:p>
        </p:txBody>
      </p:sp>
    </p:spTree>
    <p:extLst>
      <p:ext uri="{BB962C8B-B14F-4D97-AF65-F5344CB8AC3E}">
        <p14:creationId xmlns:p14="http://schemas.microsoft.com/office/powerpoint/2010/main" val="6057072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B50387F-3D79-4410-B926-2183E50A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2700">
            <a:solidFill>
              <a:srgbClr val="0B1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18FA6F3-9013-4C68-9564-C080FD30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10698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Что готово и что остаётся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BB294-D6DD-4AB8-BB05-1287914E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10515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B8C4D9"/>
                </a:solidFill>
                <a:latin typeface="Arial"/>
                <a:ea typeface="Arial"/>
                <a:cs typeface="Arial"/>
              </a:rPr>
              <a:t>MVP собран; ограничения для промышленного допуска показаны отдельно.</a:t>
            </a:r>
            <a:endParaRPr sz="12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41CF6D8-6FED-492B-B868-3304B7DF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61288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A3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87651AD-B5D0-42BE-9AC4-90DB68B2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630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30BC5D8-6061-4389-B20D-92A71ACC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72768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1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7FBF8F-5518-4A66-8FF7-9CA00B46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435608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8FAFC"/>
                </a:solidFill>
              </a:rPr>
              <a:t>Данные синхронизированы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178640-3136-4979-B95C-6E0575BA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444752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B8C4D9"/>
                </a:solidFill>
              </a:rPr>
              <a:t>37 точек исторического окна; ЛИМС оставлен для проверки</a:t>
            </a:r>
            <a:endParaRPr sz="12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06108C-2FED-4F89-9722-D1129C70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011680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2A3757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87674CE-DB7C-43BD-B597-CA47FFB3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02526C-78F0-494A-8ABC-82C7C89B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22576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2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F613AEA-D4D9-423F-98A5-230D17E3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185416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8FAFC"/>
                </a:solidFill>
              </a:rPr>
              <a:t>Модели подключены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385DA4-D6EA-44C3-A2EB-D2FF3B2C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194560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B8C4D9"/>
                </a:solidFill>
              </a:rPr>
              <a:t>Quality H+C и ReliabilityAgent работают в одном API</a:t>
            </a:r>
            <a:endParaRPr sz="12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6C693C7-6217-440D-BDE8-498748C0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761488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2A3757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03DD1DD-8863-401B-9063-0D9D8F71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62656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0FC5FD1-4C0F-433C-B03D-03BB1432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72384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3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B18CF44-C385-4F08-9538-E753D691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35224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8FAFC"/>
                </a:solidFill>
              </a:rPr>
              <a:t>API и экран работают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4219666-E394-4401-A269-EFB431D7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944368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B8C4D9"/>
                </a:solidFill>
              </a:rPr>
              <a:t>4/4 блока OK; интерфейс показывает KEEP и REFUSE</a:t>
            </a:r>
            <a:endParaRPr sz="12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A80733F-A56C-46F7-A326-8763470E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511296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2A3757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D96CA62-566D-4E10-8520-A840EF12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1246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3471476-A8A6-4F44-9BDF-E2A46327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2219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4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F82B534-C4C1-41A8-81F9-31D9D1B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685032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8FAFC"/>
                </a:solidFill>
              </a:rPr>
              <a:t>Бенчмарк собран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F34D4AB-2314-4377-A67E-6C97F98D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94176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B8C4D9"/>
                </a:solidFill>
              </a:rPr>
              <a:t>11 прогонов: 1 KEEP и 10 защитных REFUSE</a:t>
            </a:r>
            <a:endParaRPr sz="122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0519DE-507F-45FC-AD66-D45BD3AC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261104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2A3757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69A8CA2-1FB8-4C02-ACA8-DF4F487F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6227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F3C90B5-C16D-4D03-A6A9-30076723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72000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5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C7A5915-368F-4160-988B-D44AF55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43484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8FAFC"/>
                </a:solidFill>
              </a:rPr>
              <a:t>Следующий шаг</a:t>
            </a:r>
            <a:endParaRPr sz="15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9FFE733-C1F2-4829-8572-EDE92E61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43984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B8C4D9"/>
                </a:solidFill>
              </a:rPr>
              <a:t>утвердить границы T6/F9/P13 и заводскую рецептуру</a:t>
            </a:r>
            <a:endParaRPr sz="122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BB6B66D-BA82-4C36-B3A8-6F014722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5010912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2A3757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F82565D-C784-4153-8275-040A6A5B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120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E4A53CF-F374-4939-A13A-36FAB70A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21808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6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AA6D2AC-1A7D-4716-B701-CF9445B7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184648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8FAFC"/>
                </a:solidFill>
              </a:rPr>
              <a:t>Промышленный допуск</a:t>
            </a:r>
            <a:endParaRPr sz="15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04A5122-29BF-4B5F-A803-6B79DE89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193792"/>
            <a:ext cx="6126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B8C4D9"/>
                </a:solidFill>
              </a:rPr>
              <a:t>динамика кандидата, метки отказов и новый shadow holdout</a:t>
            </a:r>
            <a:endParaRPr sz="122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B83EFF2-2C8A-4AF1-8D8B-E841EAD3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080760"/>
            <a:ext cx="10424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B703"/>
                </a:solidFill>
              </a:rPr>
              <a:t>На защите показываем два честных исхода: KEEP для расчётной смеси и REFUSE для истории без рецептуры. Система объясняет причину каждого решения.</a:t>
            </a:r>
            <a:endParaRPr sz="13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F34C4CB-8ADD-49FA-9A85-EFD272B1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9672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700">
                <a:solidFill>
                  <a:srgbClr val="AAB6C6"/>
                </a:solidFill>
                <a:latin typeface="Aptos"/>
                <a:ea typeface="Aptos"/>
                <a:cs typeface="Aptos"/>
              </a:rPr>
              <a:t>Нефтекод 2.0 · 10</a:t>
            </a:r>
          </a:p>
        </p:txBody>
      </p:sp>
    </p:spTree>
    <p:extLst>
      <p:ext uri="{BB962C8B-B14F-4D97-AF65-F5344CB8AC3E}">
        <p14:creationId xmlns:p14="http://schemas.microsoft.com/office/powerpoint/2010/main" val="127685834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2026-09-21T09:18:27.4000000Z</dcterms:created>
  <dcterms:modified xsi:type="dcterms:W3CDTF">2026-09-21T09:18:27.4000000Z</dcterms:modified>
</coreProperties>
</file>